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1" r:id="rId8"/>
    <p:sldId id="262" r:id="rId9"/>
    <p:sldId id="263" r:id="rId10"/>
    <p:sldId id="264" r:id="rId11"/>
    <p:sldId id="265" r:id="rId12"/>
    <p:sldId id="266" r:id="rId13"/>
    <p:sldId id="274" r:id="rId14"/>
    <p:sldId id="268" r:id="rId15"/>
    <p:sldId id="269" r:id="rId16"/>
    <p:sldId id="270" r:id="rId17"/>
    <p:sldId id="271" r:id="rId18"/>
    <p:sldId id="272" r:id="rId19"/>
    <p:sldId id="273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100" y="1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34095" y="-2286000"/>
            <a:ext cx="6400800" cy="6400800"/>
          </a:xfrm>
          <a:prstGeom prst="ellipse">
            <a:avLst/>
          </a:prstGeom>
          <a:solidFill>
            <a:srgbClr val="1E40AF">
              <a:alpha val="25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10362895" y="3200400"/>
            <a:ext cx="4572000" cy="4572000"/>
          </a:xfrm>
          <a:prstGeom prst="ellipse">
            <a:avLst/>
          </a:prstGeom>
          <a:solidFill>
            <a:srgbClr val="0D9488">
              <a:alpha val="18000"/>
            </a:srgbClr>
          </a:solidFill>
        </p:spPr>
      </p:sp>
      <p:sp>
        <p:nvSpPr>
          <p:cNvPr id="4" name="Shape 2"/>
          <p:cNvSpPr/>
          <p:nvPr/>
        </p:nvSpPr>
        <p:spPr>
          <a:xfrm>
            <a:off x="-1371600" y="3657600"/>
            <a:ext cx="3657600" cy="3657600"/>
          </a:xfrm>
          <a:prstGeom prst="ellipse">
            <a:avLst/>
          </a:prstGeom>
          <a:solidFill>
            <a:srgbClr val="F59E0B">
              <a:alpha val="12000"/>
            </a:srgbClr>
          </a:solidFill>
        </p:spPr>
      </p:sp>
      <p:sp>
        <p:nvSpPr>
          <p:cNvPr id="5" name="Text 3"/>
          <p:cNvSpPr/>
          <p:nvPr/>
        </p:nvSpPr>
        <p:spPr>
          <a:xfrm>
            <a:off x="548640" y="155448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700" dirty="0">
                <a:solidFill>
                  <a:srgbClr val="14B8A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PROJECT  ACCEPTANCE  DEFENSE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10972800" cy="1280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一次买够</a:t>
            </a:r>
            <a:endParaRPr lang="en-US" sz="7600" dirty="0"/>
          </a:p>
        </p:txBody>
      </p:sp>
      <p:sp>
        <p:nvSpPr>
          <p:cNvPr id="7" name="Text 5"/>
          <p:cNvSpPr/>
          <p:nvPr/>
        </p:nvSpPr>
        <p:spPr>
          <a:xfrm>
            <a:off x="566928" y="3246120"/>
            <a:ext cx="7315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3B82F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社交新零售全链路电商平台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85216" y="379476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It's Mygo - Social New Retail E-Commerce Platform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4360" y="4434840"/>
            <a:ext cx="109728" cy="109728"/>
          </a:xfrm>
          <a:prstGeom prst="ellipse">
            <a:avLst/>
          </a:prstGeom>
          <a:solidFill>
            <a:srgbClr val="F59E0B"/>
          </a:solidFill>
        </p:spPr>
      </p:sp>
      <p:sp>
        <p:nvSpPr>
          <p:cNvPr id="10" name="Shape 8"/>
          <p:cNvSpPr/>
          <p:nvPr/>
        </p:nvSpPr>
        <p:spPr>
          <a:xfrm>
            <a:off x="841248" y="4434840"/>
            <a:ext cx="109728" cy="109728"/>
          </a:xfrm>
          <a:prstGeom prst="ellipse">
            <a:avLst/>
          </a:prstGeom>
          <a:solidFill>
            <a:srgbClr val="14B8A6"/>
          </a:solidFill>
        </p:spPr>
      </p:sp>
      <p:sp>
        <p:nvSpPr>
          <p:cNvPr id="11" name="Shape 9"/>
          <p:cNvSpPr/>
          <p:nvPr/>
        </p:nvSpPr>
        <p:spPr>
          <a:xfrm>
            <a:off x="1088136" y="4434840"/>
            <a:ext cx="109728" cy="109728"/>
          </a:xfrm>
          <a:prstGeom prst="ellipse">
            <a:avLst/>
          </a:prstGeom>
          <a:solidFill>
            <a:srgbClr val="3B82F6"/>
          </a:solidFill>
        </p:spPr>
      </p:sp>
      <p:sp>
        <p:nvSpPr>
          <p:cNvPr id="12" name="Text 10"/>
          <p:cNvSpPr/>
          <p:nvPr/>
        </p:nvSpPr>
        <p:spPr>
          <a:xfrm>
            <a:off x="548640" y="470916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三端协同架构  ·  内容种草闭环  ·  拼团营销引擎  ·  AI 智能导购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8FAFC"/>
            </a:gs>
            <a:gs pos="50000">
              <a:srgbClr val="F1F5FA"/>
            </a:gs>
            <a:gs pos="100000">
              <a:srgbClr val="E6EDF5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5695" y="-1371600"/>
            <a:ext cx="4572000" cy="4572000"/>
          </a:xfrm>
          <a:prstGeom prst="ellipse">
            <a:avLst/>
          </a:prstGeom>
          <a:solidFill>
            <a:srgbClr val="3B82F6">
              <a:alpha val="8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-914400" y="4572000"/>
            <a:ext cx="2743200" cy="2743200"/>
          </a:xfrm>
          <a:prstGeom prst="ellipse">
            <a:avLst/>
          </a:prstGeom>
          <a:solidFill>
            <a:srgbClr val="14B8A6">
              <a:alpha val="10000"/>
            </a:srgbClr>
          </a:solidFill>
        </p:spPr>
      </p:sp>
      <p:sp>
        <p:nvSpPr>
          <p:cNvPr id="4" name="Shape 2"/>
          <p:cNvSpPr/>
          <p:nvPr/>
        </p:nvSpPr>
        <p:spPr>
          <a:xfrm>
            <a:off x="11094415" y="566928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F59E0B">
              <a:alpha val="20000"/>
            </a:srgbClr>
          </a:solidFill>
        </p:spPr>
      </p:sp>
      <p:sp>
        <p:nvSpPr>
          <p:cNvPr id="5" name="Shape 3"/>
          <p:cNvSpPr/>
          <p:nvPr/>
        </p:nvSpPr>
        <p:spPr>
          <a:xfrm>
            <a:off x="365760" y="320040"/>
            <a:ext cx="411480" cy="411480"/>
          </a:xfrm>
          <a:prstGeom prst="roundRect">
            <a:avLst>
              <a:gd name="adj" fmla="val 15556"/>
            </a:avLst>
          </a:prstGeom>
          <a:solidFill>
            <a:srgbClr val="1E40AF"/>
          </a:solidFill>
        </p:spPr>
      </p:sp>
      <p:sp>
        <p:nvSpPr>
          <p:cNvPr id="6" name="Shape 4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7" name="Shape 5"/>
          <p:cNvSpPr/>
          <p:nvPr/>
        </p:nvSpPr>
        <p:spPr>
          <a:xfrm>
            <a:off x="-1371600" y="-914400"/>
            <a:ext cx="3657600" cy="3657600"/>
          </a:xfrm>
          <a:prstGeom prst="ellipse">
            <a:avLst/>
          </a:prstGeom>
          <a:solidFill>
            <a:srgbClr val="1E40AF">
              <a:alpha val="30000"/>
            </a:srgbClr>
          </a:solidFill>
        </p:spPr>
      </p:sp>
      <p:sp>
        <p:nvSpPr>
          <p:cNvPr id="8" name="Shape 6"/>
          <p:cNvSpPr/>
          <p:nvPr/>
        </p:nvSpPr>
        <p:spPr>
          <a:xfrm>
            <a:off x="2286000" y="5029200"/>
            <a:ext cx="2743200" cy="2743200"/>
          </a:xfrm>
          <a:prstGeom prst="ellipse">
            <a:avLst/>
          </a:prstGeom>
          <a:solidFill>
            <a:srgbClr val="0D9488">
              <a:alpha val="22000"/>
            </a:srgbClr>
          </a:solidFill>
        </p:spPr>
      </p:sp>
      <p:sp>
        <p:nvSpPr>
          <p:cNvPr id="9" name="Text 7"/>
          <p:cNvSpPr/>
          <p:nvPr/>
        </p:nvSpPr>
        <p:spPr>
          <a:xfrm>
            <a:off x="548640" y="146304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600" dirty="0">
                <a:solidFill>
                  <a:srgbClr val="14B8A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CONTENTS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1828800"/>
            <a:ext cx="36576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目录</a:t>
            </a:r>
            <a:endParaRPr lang="en-US" sz="5200" dirty="0"/>
          </a:p>
        </p:txBody>
      </p:sp>
      <p:sp>
        <p:nvSpPr>
          <p:cNvPr id="12" name="Text 10"/>
          <p:cNvSpPr/>
          <p:nvPr/>
        </p:nvSpPr>
        <p:spPr>
          <a:xfrm>
            <a:off x="4663440" y="731520"/>
            <a:ext cx="914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40A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01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577840" y="731520"/>
            <a:ext cx="54864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团队成员介绍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577840" y="111556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Team Members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63440" y="1508760"/>
            <a:ext cx="5943600" cy="0"/>
          </a:xfrm>
          <a:prstGeom prst="line">
            <a:avLst/>
          </a:prstGeom>
          <a:noFill/>
          <a:ln w="9525">
            <a:solidFill>
              <a:srgbClr val="F1F5F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0" y="1572768"/>
            <a:ext cx="914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40A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02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5577840" y="1572768"/>
            <a:ext cx="54864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项目背景与核心价值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577840" y="1956816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Background &amp; Value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63440" y="2350008"/>
            <a:ext cx="5943600" cy="0"/>
          </a:xfrm>
          <a:prstGeom prst="line">
            <a:avLst/>
          </a:prstGeom>
          <a:noFill/>
          <a:ln w="9525">
            <a:solidFill>
              <a:srgbClr val="F1F5F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414016"/>
            <a:ext cx="914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40A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03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5577840" y="2414016"/>
            <a:ext cx="54864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软件工程思想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577840" y="2798064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Engineering Principles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63440" y="3191256"/>
            <a:ext cx="5943600" cy="0"/>
          </a:xfrm>
          <a:prstGeom prst="line">
            <a:avLst/>
          </a:prstGeom>
          <a:noFill/>
          <a:ln w="9525">
            <a:solidFill>
              <a:srgbClr val="F1F5F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63440" y="3255264"/>
            <a:ext cx="914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40A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04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5577840" y="3255264"/>
            <a:ext cx="54864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功能矩阵与创新亮点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577840" y="363931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Features &amp; Innovation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663440" y="4032504"/>
            <a:ext cx="5943600" cy="0"/>
          </a:xfrm>
          <a:prstGeom prst="line">
            <a:avLst/>
          </a:prstGeom>
          <a:noFill/>
          <a:ln w="9525">
            <a:solidFill>
              <a:srgbClr val="F1F5F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63440" y="4096512"/>
            <a:ext cx="914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40A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05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5577840" y="4096512"/>
            <a:ext cx="54864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技术架构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5577840" y="448056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Technical Architecture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663440" y="4873752"/>
            <a:ext cx="5943600" cy="0"/>
          </a:xfrm>
          <a:prstGeom prst="line">
            <a:avLst/>
          </a:prstGeom>
          <a:noFill/>
          <a:ln w="9525">
            <a:solidFill>
              <a:srgbClr val="F1F5F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63440" y="4937760"/>
            <a:ext cx="914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40A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06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5577840" y="4937760"/>
            <a:ext cx="54864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演进规划与未来展望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5577840" y="53218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Future Outlook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172A">
              <a:alpha val="4000"/>
            </a:srgbClr>
          </a:solidFill>
        </p:spPr>
      </p:sp>
      <p:sp>
        <p:nvSpPr>
          <p:cNvPr id="36" name="Text 34"/>
          <p:cNvSpPr/>
          <p:nvPr/>
        </p:nvSpPr>
        <p:spPr>
          <a:xfrm>
            <a:off x="548640" y="653796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一次买够 · 社交新零售电商平台  It's Mygo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362895" y="6537960"/>
            <a:ext cx="12801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 / 18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8FAFC"/>
            </a:gs>
            <a:gs pos="50000">
              <a:srgbClr val="F1F5FA"/>
            </a:gs>
            <a:gs pos="100000">
              <a:srgbClr val="E6EDF5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5695" y="-1371600"/>
            <a:ext cx="4572000" cy="4572000"/>
          </a:xfrm>
          <a:prstGeom prst="ellipse">
            <a:avLst/>
          </a:prstGeom>
          <a:solidFill>
            <a:srgbClr val="3B82F6">
              <a:alpha val="8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-914400" y="4572000"/>
            <a:ext cx="2743200" cy="2743200"/>
          </a:xfrm>
          <a:prstGeom prst="ellipse">
            <a:avLst/>
          </a:prstGeom>
          <a:solidFill>
            <a:srgbClr val="14B8A6">
              <a:alpha val="10000"/>
            </a:srgbClr>
          </a:solidFill>
        </p:spPr>
      </p:sp>
      <p:sp>
        <p:nvSpPr>
          <p:cNvPr id="4" name="Shape 2"/>
          <p:cNvSpPr/>
          <p:nvPr/>
        </p:nvSpPr>
        <p:spPr>
          <a:xfrm>
            <a:off x="11094415" y="566928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F59E0B">
              <a:alpha val="20000"/>
            </a:srgbClr>
          </a:solidFill>
        </p:spPr>
      </p:sp>
      <p:sp>
        <p:nvSpPr>
          <p:cNvPr id="5" name="Shape 3"/>
          <p:cNvSpPr/>
          <p:nvPr/>
        </p:nvSpPr>
        <p:spPr>
          <a:xfrm>
            <a:off x="365760" y="320040"/>
            <a:ext cx="411480" cy="411480"/>
          </a:xfrm>
          <a:prstGeom prst="roundRect">
            <a:avLst>
              <a:gd name="adj" fmla="val 15556"/>
            </a:avLst>
          </a:prstGeom>
          <a:solidFill>
            <a:srgbClr val="1E40AF"/>
          </a:solidFill>
        </p:spPr>
      </p:sp>
      <p:sp>
        <p:nvSpPr>
          <p:cNvPr id="6" name="Shape 4"/>
          <p:cNvSpPr/>
          <p:nvPr/>
        </p:nvSpPr>
        <p:spPr>
          <a:xfrm>
            <a:off x="548640" y="475488"/>
            <a:ext cx="594360" cy="594360"/>
          </a:xfrm>
          <a:prstGeom prst="roundRect">
            <a:avLst>
              <a:gd name="adj" fmla="val 13846"/>
            </a:avLst>
          </a:prstGeom>
          <a:solidFill>
            <a:srgbClr val="1E40AF"/>
          </a:solidFill>
          <a:effectLst>
            <a:outerShdw blurRad="165100" dist="38100" dir="5400000" algn="ctr" rotWithShape="0">
              <a:srgbClr val="1E293B">
                <a:alpha val="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475488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325880" y="475488"/>
            <a:ext cx="9144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0D948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CHAPTER 01  ·  TEAM MEMBERS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307592" y="768096"/>
            <a:ext cx="1024128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团队成员介绍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548640" y="1783080"/>
            <a:ext cx="3566160" cy="4114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254000" dist="38100" dir="5400000" algn="bl" rotWithShape="0">
              <a:srgbClr val="1E40AF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1783080"/>
            <a:ext cx="73152" cy="4114800"/>
          </a:xfrm>
          <a:prstGeom prst="rect">
            <a:avLst/>
          </a:prstGeom>
          <a:solidFill>
            <a:srgbClr val="1E40AF"/>
          </a:solidFill>
        </p:spPr>
      </p:sp>
      <p:sp>
        <p:nvSpPr>
          <p:cNvPr id="12" name="Shape 10"/>
          <p:cNvSpPr/>
          <p:nvPr/>
        </p:nvSpPr>
        <p:spPr>
          <a:xfrm>
            <a:off x="960120" y="2148840"/>
            <a:ext cx="1051560" cy="1051560"/>
          </a:xfrm>
          <a:prstGeom prst="ellipse">
            <a:avLst/>
          </a:prstGeom>
          <a:solidFill>
            <a:srgbClr val="1E40AF"/>
          </a:solidFill>
          <a:effectLst>
            <a:outerShdw blurRad="165100" dist="38100" dir="5400000" algn="ctr" rotWithShape="0">
              <a:srgbClr val="1E293B">
                <a:alpha val="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60120" y="2148840"/>
            <a:ext cx="1051560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2194560" y="2240280"/>
            <a:ext cx="17373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0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陈耀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194560" y="2651760"/>
            <a:ext cx="1737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40A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项目负责人 / 后端架构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194560" y="2971800"/>
            <a:ext cx="17373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Backend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960120" y="3474720"/>
            <a:ext cx="2743200" cy="1828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18" name="Text 16"/>
          <p:cNvSpPr/>
          <p:nvPr/>
        </p:nvSpPr>
        <p:spPr>
          <a:xfrm>
            <a:off x="960120" y="3657600"/>
            <a:ext cx="2788920" cy="2011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整体架构设计与任务拆分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FastAPI异步服务层与RESTful核心接口实现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支付/促销/积分核心交易链路开发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关系型数据库建模与OpenAPI文档持续维护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389120" y="1783080"/>
            <a:ext cx="3566160" cy="4114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254000" dist="38100" dir="5400000" algn="bl" rotWithShape="0">
              <a:srgbClr val="1E40AF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389120" y="1783080"/>
            <a:ext cx="73152" cy="4114800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21" name="Shape 19"/>
          <p:cNvSpPr/>
          <p:nvPr/>
        </p:nvSpPr>
        <p:spPr>
          <a:xfrm>
            <a:off x="4800600" y="2148840"/>
            <a:ext cx="1051560" cy="1051560"/>
          </a:xfrm>
          <a:prstGeom prst="ellipse">
            <a:avLst/>
          </a:prstGeom>
          <a:solidFill>
            <a:srgbClr val="0D9488"/>
          </a:solidFill>
          <a:effectLst>
            <a:outerShdw blurRad="165100" dist="38100" dir="5400000" algn="ctr" rotWithShape="0">
              <a:srgbClr val="1E293B">
                <a:alpha val="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800600" y="2148840"/>
            <a:ext cx="1051560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B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6035040" y="2240280"/>
            <a:ext cx="17373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0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唐昊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035040" y="2651760"/>
            <a:ext cx="1737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 err="1">
                <a:solidFill>
                  <a:srgbClr val="0D94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前端</a:t>
            </a:r>
            <a:r>
              <a:rPr lang="zh-CN" altLang="en-US" sz="1100" b="1" dirty="0">
                <a:solidFill>
                  <a:srgbClr val="0D94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开发</a:t>
            </a:r>
            <a:r>
              <a:rPr lang="en-US" sz="1100" b="1" dirty="0">
                <a:solidFill>
                  <a:srgbClr val="0D94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/ 交互设计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035040" y="2971800"/>
            <a:ext cx="17373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Frontend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800600" y="3474720"/>
            <a:ext cx="2743200" cy="1828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27" name="Text 25"/>
          <p:cNvSpPr/>
          <p:nvPr/>
        </p:nvSpPr>
        <p:spPr>
          <a:xfrm>
            <a:off x="4800600" y="3657600"/>
            <a:ext cx="2788920" cy="2011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00" dirty="0" err="1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用户端SPA页面架构与实现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zh-CN" altLang="en-US" sz="12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电商全链路交易流程前端实现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altLang="zh-CN" sz="1200" dirty="0" err="1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社区</a:t>
            </a:r>
            <a:r>
              <a:rPr lang="en-US" altLang="zh-CN" sz="12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/</a:t>
            </a:r>
            <a:r>
              <a:rPr lang="en-US" altLang="zh-CN" sz="1200" dirty="0" err="1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拼团</a:t>
            </a:r>
            <a:r>
              <a:rPr lang="en-US" altLang="zh-CN" sz="12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/</a:t>
            </a:r>
            <a:r>
              <a:rPr lang="en-US" altLang="zh-CN" sz="1200" dirty="0" err="1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客服业务模块开发</a:t>
            </a:r>
            <a:endParaRPr lang="en-US" altLang="zh-CN" sz="12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00" dirty="0" err="1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WebSocket全双工客服实时交互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214360" y="1783080"/>
            <a:ext cx="3566160" cy="4114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254000" dist="38100" dir="5400000" algn="bl" rotWithShape="0">
              <a:srgbClr val="1E40AF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229600" y="1783080"/>
            <a:ext cx="73152" cy="411480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30" name="Shape 28"/>
          <p:cNvSpPr/>
          <p:nvPr/>
        </p:nvSpPr>
        <p:spPr>
          <a:xfrm>
            <a:off x="8641080" y="2148840"/>
            <a:ext cx="1051560" cy="1051560"/>
          </a:xfrm>
          <a:prstGeom prst="ellipse">
            <a:avLst/>
          </a:prstGeom>
          <a:solidFill>
            <a:srgbClr val="F59E0B"/>
          </a:solidFill>
          <a:effectLst>
            <a:outerShdw blurRad="165100" dist="38100" dir="5400000" algn="ctr" rotWithShape="0">
              <a:srgbClr val="1E293B">
                <a:alpha val="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8641080" y="2148840"/>
            <a:ext cx="1051560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</a:t>
            </a:r>
            <a:endParaRPr lang="en-US" sz="3600" dirty="0"/>
          </a:p>
        </p:txBody>
      </p:sp>
      <p:sp>
        <p:nvSpPr>
          <p:cNvPr id="32" name="Text 30"/>
          <p:cNvSpPr/>
          <p:nvPr/>
        </p:nvSpPr>
        <p:spPr>
          <a:xfrm>
            <a:off x="9875520" y="2240280"/>
            <a:ext cx="17373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成员 C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9875520" y="2651760"/>
            <a:ext cx="1737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100" b="1" dirty="0">
                <a:solidFill>
                  <a:srgbClr val="F59E0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前端</a:t>
            </a:r>
            <a:r>
              <a:rPr lang="en-US" sz="1100" b="1" dirty="0" err="1">
                <a:solidFill>
                  <a:srgbClr val="F59E0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开发</a:t>
            </a:r>
            <a:r>
              <a:rPr lang="en-US" sz="1100" b="1" dirty="0">
                <a:solidFill>
                  <a:srgbClr val="F59E0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/ 测试运维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9875520" y="2971800"/>
            <a:ext cx="17373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altLang="zh-CN" sz="900" i="1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Frontend</a:t>
            </a:r>
            <a:r>
              <a:rPr lang="en-US" sz="900" i="1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&amp; QA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8641080" y="3474720"/>
            <a:ext cx="2743200" cy="18288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36" name="Text 34"/>
          <p:cNvSpPr/>
          <p:nvPr/>
        </p:nvSpPr>
        <p:spPr>
          <a:xfrm>
            <a:off x="8641080" y="3657600"/>
            <a:ext cx="2788920" cy="2011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altLang="zh-CN" sz="1200" dirty="0" err="1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管理端B端页面架构与实现</a:t>
            </a:r>
            <a:endParaRPr lang="en-US" altLang="zh-CN" sz="12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altLang="zh-CN" sz="1200" dirty="0" err="1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ECharts数据可视化报表开发</a:t>
            </a:r>
            <a:endParaRPr lang="en-US" altLang="zh-CN" sz="12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altLang="zh-CN" sz="1200" dirty="0" err="1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三端路由守卫与RBAC权限隔离</a:t>
            </a:r>
            <a:endParaRPr lang="en-US" altLang="zh-CN" sz="12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00" dirty="0" err="1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容器化部署配置与全链路验收联调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172A">
              <a:alpha val="4000"/>
            </a:srgbClr>
          </a:solidFill>
        </p:spPr>
      </p:sp>
      <p:sp>
        <p:nvSpPr>
          <p:cNvPr id="39" name="Text 37"/>
          <p:cNvSpPr/>
          <p:nvPr/>
        </p:nvSpPr>
        <p:spPr>
          <a:xfrm>
            <a:off x="548640" y="653796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一次买够 · 社交新零售电商平台  It's Mygo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362895" y="6537960"/>
            <a:ext cx="12801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 / 18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8FAFC"/>
            </a:gs>
            <a:gs pos="50000">
              <a:srgbClr val="F1F5FA"/>
            </a:gs>
            <a:gs pos="100000">
              <a:srgbClr val="E6EDF5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5695" y="-1371600"/>
            <a:ext cx="4572000" cy="4572000"/>
          </a:xfrm>
          <a:prstGeom prst="ellipse">
            <a:avLst/>
          </a:prstGeom>
          <a:solidFill>
            <a:srgbClr val="3B82F6">
              <a:alpha val="8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-914400" y="4572000"/>
            <a:ext cx="2743200" cy="2743200"/>
          </a:xfrm>
          <a:prstGeom prst="ellipse">
            <a:avLst/>
          </a:prstGeom>
          <a:solidFill>
            <a:srgbClr val="14B8A6">
              <a:alpha val="10000"/>
            </a:srgbClr>
          </a:solidFill>
        </p:spPr>
      </p:sp>
      <p:sp>
        <p:nvSpPr>
          <p:cNvPr id="4" name="Shape 2"/>
          <p:cNvSpPr/>
          <p:nvPr/>
        </p:nvSpPr>
        <p:spPr>
          <a:xfrm>
            <a:off x="11094415" y="566928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F59E0B">
              <a:alpha val="20000"/>
            </a:srgbClr>
          </a:solidFill>
        </p:spPr>
      </p:sp>
      <p:sp>
        <p:nvSpPr>
          <p:cNvPr id="5" name="Shape 3"/>
          <p:cNvSpPr/>
          <p:nvPr/>
        </p:nvSpPr>
        <p:spPr>
          <a:xfrm>
            <a:off x="365760" y="320040"/>
            <a:ext cx="411480" cy="411480"/>
          </a:xfrm>
          <a:prstGeom prst="roundRect">
            <a:avLst>
              <a:gd name="adj" fmla="val 15556"/>
            </a:avLst>
          </a:prstGeom>
          <a:solidFill>
            <a:srgbClr val="1E40AF"/>
          </a:solidFill>
        </p:spPr>
      </p:sp>
      <p:sp>
        <p:nvSpPr>
          <p:cNvPr id="6" name="Shape 4"/>
          <p:cNvSpPr/>
          <p:nvPr/>
        </p:nvSpPr>
        <p:spPr>
          <a:xfrm>
            <a:off x="548640" y="475488"/>
            <a:ext cx="594360" cy="594360"/>
          </a:xfrm>
          <a:prstGeom prst="roundRect">
            <a:avLst>
              <a:gd name="adj" fmla="val 13846"/>
            </a:avLst>
          </a:prstGeom>
          <a:solidFill>
            <a:srgbClr val="1E40AF"/>
          </a:solidFill>
          <a:effectLst>
            <a:outerShdw blurRad="165100" dist="38100" dir="5400000" algn="ctr" rotWithShape="0">
              <a:srgbClr val="1E293B">
                <a:alpha val="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475488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325880" y="475488"/>
            <a:ext cx="9144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0D948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CHAPTER 02  ·  BACKGROUND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307592" y="768096"/>
            <a:ext cx="1024128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 err="1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项目背景</a:t>
            </a:r>
            <a:r>
              <a:rPr lang="zh-CN" altLang="en-US" sz="30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与核心价值</a:t>
            </a:r>
            <a:endParaRPr lang="en-US" sz="3000" dirty="0"/>
          </a:p>
        </p:txBody>
      </p:sp>
      <p:sp>
        <p:nvSpPr>
          <p:cNvPr id="33" name="Shape 3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172A">
              <a:alpha val="4000"/>
            </a:srgbClr>
          </a:solidFill>
        </p:spPr>
      </p:sp>
      <p:sp>
        <p:nvSpPr>
          <p:cNvPr id="34" name="Text 32"/>
          <p:cNvSpPr/>
          <p:nvPr/>
        </p:nvSpPr>
        <p:spPr>
          <a:xfrm>
            <a:off x="548640" y="653796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一次买够 · 社交新零售电商平台  It's Mygo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362895" y="6537960"/>
            <a:ext cx="12801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 / 18</a:t>
            </a:r>
            <a:endParaRPr lang="en-US" sz="900" dirty="0"/>
          </a:p>
        </p:txBody>
      </p:sp>
      <p:sp>
        <p:nvSpPr>
          <p:cNvPr id="36" name="Shape 6"/>
          <p:cNvSpPr/>
          <p:nvPr/>
        </p:nvSpPr>
        <p:spPr>
          <a:xfrm>
            <a:off x="548640" y="1463040"/>
            <a:ext cx="548640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effectLst>
            <a:outerShdw blurRad="152400" dist="50800" dir="5400000" algn="ctr" rotWithShape="0">
              <a:srgbClr val="1E293B">
                <a:alpha val="7000"/>
              </a:srgbClr>
            </a:outerShdw>
          </a:effectLst>
        </p:spPr>
      </p:sp>
      <p:sp>
        <p:nvSpPr>
          <p:cNvPr id="37" name="Shape 7"/>
          <p:cNvSpPr/>
          <p:nvPr/>
        </p:nvSpPr>
        <p:spPr>
          <a:xfrm>
            <a:off x="548640" y="1463040"/>
            <a:ext cx="73152" cy="2103120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38" name="Text 8"/>
          <p:cNvSpPr/>
          <p:nvPr/>
        </p:nvSpPr>
        <p:spPr>
          <a:xfrm>
            <a:off x="822960" y="1645920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项目定位</a:t>
            </a:r>
            <a:endParaRPr lang="en-US" sz="2000" dirty="0"/>
          </a:p>
        </p:txBody>
      </p:sp>
      <p:sp>
        <p:nvSpPr>
          <p:cNvPr id="39" name="Text 9"/>
          <p:cNvSpPr/>
          <p:nvPr/>
        </p:nvSpPr>
        <p:spPr>
          <a:xfrm>
            <a:off x="822960" y="2148840"/>
            <a:ext cx="4937760" cy="1280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 err="1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面向</a:t>
            </a:r>
            <a:r>
              <a:rPr lang="zh-CN" altLang="en-US" sz="14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全场景消费需求</a:t>
            </a:r>
            <a:r>
              <a:rPr lang="en-US" sz="1400" dirty="0" err="1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的社交新零售电商平台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覆盖用户、商家、平台三类角色完整业务闭环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PC端展示与本地联调为主，验证业务闭环完整性</a:t>
            </a:r>
            <a:endParaRPr lang="en-US" sz="1400" dirty="0"/>
          </a:p>
        </p:txBody>
      </p:sp>
      <p:sp>
        <p:nvSpPr>
          <p:cNvPr id="40" name="Shape 10"/>
          <p:cNvSpPr/>
          <p:nvPr/>
        </p:nvSpPr>
        <p:spPr>
          <a:xfrm>
            <a:off x="6309360" y="1463040"/>
            <a:ext cx="530352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effectLst>
            <a:outerShdw blurRad="152400" dist="50800" dir="5400000" algn="ctr" rotWithShape="0">
              <a:srgbClr val="1E293B">
                <a:alpha val="7000"/>
              </a:srgbClr>
            </a:outerShdw>
          </a:effectLst>
        </p:spPr>
      </p:sp>
      <p:sp>
        <p:nvSpPr>
          <p:cNvPr id="41" name="Shape 11"/>
          <p:cNvSpPr/>
          <p:nvPr/>
        </p:nvSpPr>
        <p:spPr>
          <a:xfrm>
            <a:off x="6309360" y="1463040"/>
            <a:ext cx="73152" cy="2103120"/>
          </a:xfrm>
          <a:prstGeom prst="rect">
            <a:avLst/>
          </a:prstGeom>
          <a:solidFill>
            <a:srgbClr val="F96167"/>
          </a:solidFill>
        </p:spPr>
      </p:sp>
      <p:sp>
        <p:nvSpPr>
          <p:cNvPr id="42" name="Text 12"/>
          <p:cNvSpPr/>
          <p:nvPr/>
        </p:nvSpPr>
        <p:spPr>
          <a:xfrm>
            <a:off x="6583680" y="1645920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96167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核心问题</a:t>
            </a:r>
            <a:endParaRPr lang="en-US" sz="2000" dirty="0"/>
          </a:p>
        </p:txBody>
      </p:sp>
      <p:sp>
        <p:nvSpPr>
          <p:cNvPr id="43" name="Text 13"/>
          <p:cNvSpPr/>
          <p:nvPr/>
        </p:nvSpPr>
        <p:spPr>
          <a:xfrm>
            <a:off x="6583680" y="2148840"/>
            <a:ext cx="4754880" cy="1280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传统电商缺乏社交互动引擎与内容种草转化闭环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多角色权限边界与业务状态机流转复杂度极高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真实支付网关接入与促销规则引擎计算技术壁垒高</a:t>
            </a:r>
            <a:endParaRPr lang="en-US" sz="1400" dirty="0"/>
          </a:p>
        </p:txBody>
      </p:sp>
      <p:sp>
        <p:nvSpPr>
          <p:cNvPr id="44" name="Shape 14"/>
          <p:cNvSpPr/>
          <p:nvPr/>
        </p:nvSpPr>
        <p:spPr>
          <a:xfrm>
            <a:off x="548640" y="3749040"/>
            <a:ext cx="11064240" cy="256032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effectLst>
            <a:outerShdw blurRad="152400" dist="50800" dir="5400000" algn="ctr" rotWithShape="0">
              <a:srgbClr val="1E293B">
                <a:alpha val="7000"/>
              </a:srgbClr>
            </a:outerShdw>
          </a:effectLst>
        </p:spPr>
      </p:sp>
      <p:sp>
        <p:nvSpPr>
          <p:cNvPr id="45" name="Shape 15"/>
          <p:cNvSpPr/>
          <p:nvPr/>
        </p:nvSpPr>
        <p:spPr>
          <a:xfrm>
            <a:off x="548640" y="3749040"/>
            <a:ext cx="73152" cy="2560320"/>
          </a:xfrm>
          <a:prstGeom prst="rect">
            <a:avLst/>
          </a:prstGeom>
          <a:solidFill>
            <a:srgbClr val="028090"/>
          </a:solidFill>
        </p:spPr>
      </p:sp>
      <p:sp>
        <p:nvSpPr>
          <p:cNvPr id="46" name="Text 16"/>
          <p:cNvSpPr/>
          <p:nvPr/>
        </p:nvSpPr>
        <p:spPr>
          <a:xfrm>
            <a:off x="822960" y="393192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28090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项目价值</a:t>
            </a:r>
            <a:endParaRPr lang="en-US" sz="2000" dirty="0"/>
          </a:p>
        </p:txBody>
      </p:sp>
      <p:sp>
        <p:nvSpPr>
          <p:cNvPr id="47" name="Text 17"/>
          <p:cNvSpPr/>
          <p:nvPr/>
        </p:nvSpPr>
        <p:spPr>
          <a:xfrm>
            <a:off x="822960" y="4526280"/>
            <a:ext cx="246888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E2761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3</a:t>
            </a:r>
            <a:endParaRPr lang="en-US" sz="4000" dirty="0"/>
          </a:p>
        </p:txBody>
      </p:sp>
      <p:sp>
        <p:nvSpPr>
          <p:cNvPr id="48" name="Text 18"/>
          <p:cNvSpPr/>
          <p:nvPr/>
        </p:nvSpPr>
        <p:spPr>
          <a:xfrm>
            <a:off x="822960" y="5257800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用户角色</a:t>
            </a:r>
            <a:endParaRPr lang="en-US" sz="1600" dirty="0"/>
          </a:p>
        </p:txBody>
      </p:sp>
      <p:sp>
        <p:nvSpPr>
          <p:cNvPr id="49" name="Text 19"/>
          <p:cNvSpPr/>
          <p:nvPr/>
        </p:nvSpPr>
        <p:spPr>
          <a:xfrm>
            <a:off x="822960" y="5623560"/>
            <a:ext cx="24688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普通用户/商家/平台</a:t>
            </a:r>
            <a:endParaRPr lang="en-US" sz="1200" dirty="0"/>
          </a:p>
        </p:txBody>
      </p:sp>
      <p:sp>
        <p:nvSpPr>
          <p:cNvPr id="50" name="Text 20"/>
          <p:cNvSpPr/>
          <p:nvPr/>
        </p:nvSpPr>
        <p:spPr>
          <a:xfrm>
            <a:off x="3566160" y="4526280"/>
            <a:ext cx="246888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E2761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15+</a:t>
            </a:r>
            <a:endParaRPr lang="en-US" sz="4000" dirty="0"/>
          </a:p>
        </p:txBody>
      </p:sp>
      <p:sp>
        <p:nvSpPr>
          <p:cNvPr id="51" name="Text 21"/>
          <p:cNvSpPr/>
          <p:nvPr/>
        </p:nvSpPr>
        <p:spPr>
          <a:xfrm>
            <a:off x="3566160" y="5257800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功能模块</a:t>
            </a:r>
            <a:endParaRPr lang="en-US" sz="1600" dirty="0"/>
          </a:p>
        </p:txBody>
      </p:sp>
      <p:sp>
        <p:nvSpPr>
          <p:cNvPr id="52" name="Text 22"/>
          <p:cNvSpPr/>
          <p:nvPr/>
        </p:nvSpPr>
        <p:spPr>
          <a:xfrm>
            <a:off x="3566160" y="5623560"/>
            <a:ext cx="24688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完整电商全链路交易闭环</a:t>
            </a:r>
            <a:endParaRPr lang="en-US" sz="1200" dirty="0"/>
          </a:p>
        </p:txBody>
      </p:sp>
      <p:sp>
        <p:nvSpPr>
          <p:cNvPr id="53" name="Text 23"/>
          <p:cNvSpPr/>
          <p:nvPr/>
        </p:nvSpPr>
        <p:spPr>
          <a:xfrm>
            <a:off x="6309360" y="4526280"/>
            <a:ext cx="246888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E2761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100%</a:t>
            </a:r>
            <a:endParaRPr lang="en-US" sz="4000" dirty="0"/>
          </a:p>
        </p:txBody>
      </p:sp>
      <p:sp>
        <p:nvSpPr>
          <p:cNvPr id="54" name="Text 24"/>
          <p:cNvSpPr/>
          <p:nvPr/>
        </p:nvSpPr>
        <p:spPr>
          <a:xfrm>
            <a:off x="6309360" y="5257800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可演示</a:t>
            </a:r>
            <a:endParaRPr lang="en-US" sz="1600" dirty="0"/>
          </a:p>
        </p:txBody>
      </p:sp>
      <p:sp>
        <p:nvSpPr>
          <p:cNvPr id="55" name="Text 25"/>
          <p:cNvSpPr/>
          <p:nvPr/>
        </p:nvSpPr>
        <p:spPr>
          <a:xfrm>
            <a:off x="6309360" y="5623560"/>
            <a:ext cx="24688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全链路本地可运行可演示验证</a:t>
            </a:r>
            <a:endParaRPr lang="en-US" sz="1200" dirty="0"/>
          </a:p>
        </p:txBody>
      </p:sp>
      <p:sp>
        <p:nvSpPr>
          <p:cNvPr id="56" name="Text 26"/>
          <p:cNvSpPr/>
          <p:nvPr/>
        </p:nvSpPr>
        <p:spPr>
          <a:xfrm>
            <a:off x="9052560" y="4526280"/>
            <a:ext cx="246888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E2761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Alipay</a:t>
            </a:r>
            <a:endParaRPr lang="en-US" sz="4000" dirty="0"/>
          </a:p>
        </p:txBody>
      </p:sp>
      <p:sp>
        <p:nvSpPr>
          <p:cNvPr id="57" name="Text 27"/>
          <p:cNvSpPr/>
          <p:nvPr/>
        </p:nvSpPr>
        <p:spPr>
          <a:xfrm>
            <a:off x="9052560" y="5257800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D374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支付接入</a:t>
            </a:r>
            <a:endParaRPr lang="en-US" sz="1600" dirty="0"/>
          </a:p>
        </p:txBody>
      </p:sp>
      <p:sp>
        <p:nvSpPr>
          <p:cNvPr id="58" name="Text 28"/>
          <p:cNvSpPr/>
          <p:nvPr/>
        </p:nvSpPr>
        <p:spPr>
          <a:xfrm>
            <a:off x="9052560" y="5623560"/>
            <a:ext cx="24688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沙箱环境真实扫码支付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8FAFC"/>
            </a:gs>
            <a:gs pos="50000">
              <a:srgbClr val="F1F5FA"/>
            </a:gs>
            <a:gs pos="100000">
              <a:srgbClr val="E6EDF5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5695" y="-1371600"/>
            <a:ext cx="4572000" cy="4572000"/>
          </a:xfrm>
          <a:prstGeom prst="ellipse">
            <a:avLst/>
          </a:prstGeom>
          <a:solidFill>
            <a:srgbClr val="3B82F6">
              <a:alpha val="8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-914400" y="4572000"/>
            <a:ext cx="2743200" cy="2743200"/>
          </a:xfrm>
          <a:prstGeom prst="ellipse">
            <a:avLst/>
          </a:prstGeom>
          <a:solidFill>
            <a:srgbClr val="14B8A6">
              <a:alpha val="10000"/>
            </a:srgbClr>
          </a:solidFill>
        </p:spPr>
      </p:sp>
      <p:sp>
        <p:nvSpPr>
          <p:cNvPr id="4" name="Shape 2"/>
          <p:cNvSpPr/>
          <p:nvPr/>
        </p:nvSpPr>
        <p:spPr>
          <a:xfrm>
            <a:off x="11094415" y="566928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F59E0B">
              <a:alpha val="20000"/>
            </a:srgbClr>
          </a:solidFill>
        </p:spPr>
      </p:sp>
      <p:sp>
        <p:nvSpPr>
          <p:cNvPr id="5" name="Shape 3"/>
          <p:cNvSpPr/>
          <p:nvPr/>
        </p:nvSpPr>
        <p:spPr>
          <a:xfrm>
            <a:off x="365760" y="320040"/>
            <a:ext cx="411480" cy="411480"/>
          </a:xfrm>
          <a:prstGeom prst="roundRect">
            <a:avLst>
              <a:gd name="adj" fmla="val 15556"/>
            </a:avLst>
          </a:prstGeom>
          <a:solidFill>
            <a:srgbClr val="1E40AF"/>
          </a:solidFill>
        </p:spPr>
      </p:sp>
      <p:sp>
        <p:nvSpPr>
          <p:cNvPr id="6" name="Shape 4"/>
          <p:cNvSpPr/>
          <p:nvPr/>
        </p:nvSpPr>
        <p:spPr>
          <a:xfrm>
            <a:off x="548640" y="475488"/>
            <a:ext cx="594360" cy="594360"/>
          </a:xfrm>
          <a:prstGeom prst="roundRect">
            <a:avLst>
              <a:gd name="adj" fmla="val 13846"/>
            </a:avLst>
          </a:prstGeom>
          <a:solidFill>
            <a:srgbClr val="1E40AF"/>
          </a:solidFill>
          <a:effectLst>
            <a:outerShdw blurRad="165100" dist="38100" dir="5400000" algn="ctr" rotWithShape="0">
              <a:srgbClr val="1E293B">
                <a:alpha val="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475488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325880" y="475488"/>
            <a:ext cx="9144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0D948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CHAPTER 03  ·  SOFTWARE ENGINEERING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307592" y="768096"/>
            <a:ext cx="1024128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软件工程思想</a:t>
            </a:r>
            <a:endParaRPr lang="en-US" sz="3000" dirty="0"/>
          </a:p>
        </p:txBody>
      </p:sp>
      <p:sp>
        <p:nvSpPr>
          <p:cNvPr id="46" name="Shape 4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172A">
              <a:alpha val="4000"/>
            </a:srgbClr>
          </a:solidFill>
        </p:spPr>
      </p:sp>
      <p:sp>
        <p:nvSpPr>
          <p:cNvPr id="47" name="Text 45"/>
          <p:cNvSpPr/>
          <p:nvPr/>
        </p:nvSpPr>
        <p:spPr>
          <a:xfrm>
            <a:off x="548640" y="653796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一次买够 · 社交新零售电商平台  It's Mygo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0362895" y="6537960"/>
            <a:ext cx="12801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6 / 18</a:t>
            </a:r>
            <a:endParaRPr lang="en-US" sz="900" dirty="0"/>
          </a:p>
        </p:txBody>
      </p:sp>
      <p:sp>
        <p:nvSpPr>
          <p:cNvPr id="49" name="Shape 6"/>
          <p:cNvSpPr/>
          <p:nvPr/>
        </p:nvSpPr>
        <p:spPr>
          <a:xfrm>
            <a:off x="548640" y="1554480"/>
            <a:ext cx="356616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effectLst>
            <a:outerShdw blurRad="152400" dist="50800" dir="5400000" algn="ctr" rotWithShape="0">
              <a:srgbClr val="1E293B">
                <a:alpha val="7000"/>
              </a:srgbClr>
            </a:outerShdw>
          </a:effectLst>
        </p:spPr>
      </p:sp>
      <p:sp>
        <p:nvSpPr>
          <p:cNvPr id="50" name="Shape 7"/>
          <p:cNvSpPr/>
          <p:nvPr/>
        </p:nvSpPr>
        <p:spPr>
          <a:xfrm>
            <a:off x="822960" y="1828800"/>
            <a:ext cx="640080" cy="640080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51" name="Text 8"/>
          <p:cNvSpPr/>
          <p:nvPr/>
        </p:nvSpPr>
        <p:spPr>
          <a:xfrm>
            <a:off x="822960" y="182880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1</a:t>
            </a:r>
            <a:endParaRPr lang="en-US" sz="2000" dirty="0"/>
          </a:p>
        </p:txBody>
      </p:sp>
      <p:sp>
        <p:nvSpPr>
          <p:cNvPr id="52" name="Text 9"/>
          <p:cNvSpPr/>
          <p:nvPr/>
        </p:nvSpPr>
        <p:spPr>
          <a:xfrm>
            <a:off x="1645920" y="187452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D3748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前后端分离</a:t>
            </a:r>
            <a:endParaRPr lang="en-US" sz="1800" dirty="0"/>
          </a:p>
        </p:txBody>
      </p:sp>
      <p:sp>
        <p:nvSpPr>
          <p:cNvPr id="53" name="Text 10"/>
          <p:cNvSpPr/>
          <p:nvPr/>
        </p:nvSpPr>
        <p:spPr>
          <a:xfrm>
            <a:off x="822960" y="2651760"/>
            <a:ext cx="3017520" cy="95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FastAPI提供RESTful API并自动生成OpenAPI文档，React+TS经Axios统一封装请求与响应拦截，前后端以接口契约解耦，职责严格分离可独立部署</a:t>
            </a:r>
            <a:endParaRPr lang="en-US" sz="1300" dirty="0"/>
          </a:p>
        </p:txBody>
      </p:sp>
      <p:sp>
        <p:nvSpPr>
          <p:cNvPr id="54" name="Shape 11"/>
          <p:cNvSpPr/>
          <p:nvPr/>
        </p:nvSpPr>
        <p:spPr>
          <a:xfrm>
            <a:off x="4297680" y="1554480"/>
            <a:ext cx="356616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effectLst>
            <a:outerShdw blurRad="152400" dist="50800" dir="5400000" algn="ctr" rotWithShape="0">
              <a:srgbClr val="1E293B">
                <a:alpha val="7000"/>
              </a:srgbClr>
            </a:outerShdw>
          </a:effectLst>
        </p:spPr>
      </p:sp>
      <p:sp>
        <p:nvSpPr>
          <p:cNvPr id="55" name="Shape 12"/>
          <p:cNvSpPr/>
          <p:nvPr/>
        </p:nvSpPr>
        <p:spPr>
          <a:xfrm>
            <a:off x="4572000" y="1828800"/>
            <a:ext cx="640080" cy="640080"/>
          </a:xfrm>
          <a:prstGeom prst="ellipse">
            <a:avLst/>
          </a:prstGeom>
          <a:solidFill>
            <a:srgbClr val="F96167"/>
          </a:solidFill>
        </p:spPr>
      </p:sp>
      <p:sp>
        <p:nvSpPr>
          <p:cNvPr id="56" name="Text 13"/>
          <p:cNvSpPr/>
          <p:nvPr/>
        </p:nvSpPr>
        <p:spPr>
          <a:xfrm>
            <a:off x="4572000" y="182880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2</a:t>
            </a:r>
            <a:endParaRPr lang="en-US" sz="2000" dirty="0"/>
          </a:p>
        </p:txBody>
      </p:sp>
      <p:sp>
        <p:nvSpPr>
          <p:cNvPr id="57" name="Text 14"/>
          <p:cNvSpPr/>
          <p:nvPr/>
        </p:nvSpPr>
        <p:spPr>
          <a:xfrm>
            <a:off x="5394960" y="187452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D3748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分层架构</a:t>
            </a:r>
            <a:endParaRPr lang="en-US" sz="1800" dirty="0"/>
          </a:p>
        </p:txBody>
      </p:sp>
      <p:sp>
        <p:nvSpPr>
          <p:cNvPr id="58" name="Text 15"/>
          <p:cNvSpPr/>
          <p:nvPr/>
        </p:nvSpPr>
        <p:spPr>
          <a:xfrm>
            <a:off x="4572000" y="2651760"/>
            <a:ext cx="3017520" cy="95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Router仅做参数接收与响应组装，Service承载事务边界与核心业务规则，Models经SQLAlchemy ORM映射表结构，三层职责单一便于维护与扩展</a:t>
            </a:r>
            <a:endParaRPr lang="en-US" sz="1300" dirty="0"/>
          </a:p>
        </p:txBody>
      </p:sp>
      <p:sp>
        <p:nvSpPr>
          <p:cNvPr id="59" name="Shape 16"/>
          <p:cNvSpPr/>
          <p:nvPr/>
        </p:nvSpPr>
        <p:spPr>
          <a:xfrm>
            <a:off x="8046720" y="1554480"/>
            <a:ext cx="356616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effectLst>
            <a:outerShdw blurRad="152400" dist="50800" dir="5400000" algn="ctr" rotWithShape="0">
              <a:srgbClr val="1E293B">
                <a:alpha val="7000"/>
              </a:srgbClr>
            </a:outerShdw>
          </a:effectLst>
        </p:spPr>
      </p:sp>
      <p:sp>
        <p:nvSpPr>
          <p:cNvPr id="60" name="Shape 17"/>
          <p:cNvSpPr/>
          <p:nvPr/>
        </p:nvSpPr>
        <p:spPr>
          <a:xfrm>
            <a:off x="8321040" y="1828800"/>
            <a:ext cx="640080" cy="640080"/>
          </a:xfrm>
          <a:prstGeom prst="ellipse">
            <a:avLst/>
          </a:prstGeom>
          <a:solidFill>
            <a:srgbClr val="028090"/>
          </a:solidFill>
        </p:spPr>
      </p:sp>
      <p:sp>
        <p:nvSpPr>
          <p:cNvPr id="61" name="Text 18"/>
          <p:cNvSpPr/>
          <p:nvPr/>
        </p:nvSpPr>
        <p:spPr>
          <a:xfrm>
            <a:off x="8321040" y="182880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3</a:t>
            </a:r>
            <a:endParaRPr lang="en-US" sz="2000" dirty="0"/>
          </a:p>
        </p:txBody>
      </p:sp>
      <p:sp>
        <p:nvSpPr>
          <p:cNvPr id="62" name="Text 19"/>
          <p:cNvSpPr/>
          <p:nvPr/>
        </p:nvSpPr>
        <p:spPr>
          <a:xfrm>
            <a:off x="9144000" y="187452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D3748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接口规范</a:t>
            </a:r>
            <a:endParaRPr lang="en-US" sz="1800" dirty="0"/>
          </a:p>
        </p:txBody>
      </p:sp>
      <p:sp>
        <p:nvSpPr>
          <p:cNvPr id="63" name="Text 20"/>
          <p:cNvSpPr/>
          <p:nvPr/>
        </p:nvSpPr>
        <p:spPr>
          <a:xfrm>
            <a:off x="8321040" y="2651760"/>
            <a:ext cx="3017520" cy="95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统一{code,msg,data}响应结构与分页规范，金额以分为单位避免浮点误差，Pydantic自动校验入参，OpenAPI文档随代码同步生成维护</a:t>
            </a:r>
            <a:endParaRPr lang="en-US" sz="1300" dirty="0"/>
          </a:p>
        </p:txBody>
      </p:sp>
      <p:sp>
        <p:nvSpPr>
          <p:cNvPr id="64" name="Shape 21"/>
          <p:cNvSpPr/>
          <p:nvPr/>
        </p:nvSpPr>
        <p:spPr>
          <a:xfrm>
            <a:off x="548640" y="3931920"/>
            <a:ext cx="356616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effectLst>
            <a:outerShdw blurRad="152400" dist="50800" dir="5400000" algn="ctr" rotWithShape="0">
              <a:srgbClr val="1E293B">
                <a:alpha val="7000"/>
              </a:srgbClr>
            </a:outerShdw>
          </a:effectLst>
        </p:spPr>
      </p:sp>
      <p:sp>
        <p:nvSpPr>
          <p:cNvPr id="65" name="Shape 22"/>
          <p:cNvSpPr/>
          <p:nvPr/>
        </p:nvSpPr>
        <p:spPr>
          <a:xfrm>
            <a:off x="822960" y="4206240"/>
            <a:ext cx="640080" cy="640080"/>
          </a:xfrm>
          <a:prstGeom prst="ellipse">
            <a:avLst/>
          </a:prstGeom>
          <a:solidFill>
            <a:srgbClr val="B85042"/>
          </a:solidFill>
        </p:spPr>
      </p:sp>
      <p:sp>
        <p:nvSpPr>
          <p:cNvPr id="66" name="Text 23"/>
          <p:cNvSpPr/>
          <p:nvPr/>
        </p:nvSpPr>
        <p:spPr>
          <a:xfrm>
            <a:off x="822960" y="420624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4</a:t>
            </a:r>
            <a:endParaRPr lang="en-US" sz="2000" dirty="0"/>
          </a:p>
        </p:txBody>
      </p:sp>
      <p:sp>
        <p:nvSpPr>
          <p:cNvPr id="67" name="Text 24"/>
          <p:cNvSpPr/>
          <p:nvPr/>
        </p:nvSpPr>
        <p:spPr>
          <a:xfrm>
            <a:off x="1645920" y="425196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D3748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权限控制</a:t>
            </a:r>
            <a:endParaRPr lang="en-US" sz="1800" dirty="0"/>
          </a:p>
        </p:txBody>
      </p:sp>
      <p:sp>
        <p:nvSpPr>
          <p:cNvPr id="68" name="Text 25"/>
          <p:cNvSpPr/>
          <p:nvPr/>
        </p:nvSpPr>
        <p:spPr>
          <a:xfrm>
            <a:off x="822960" y="5029200"/>
            <a:ext cx="3017520" cy="95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用户/商家/平台三类账号体系隔离，JWT携带角色声明，后端依赖注入鉴权中间件强制校验数据归属权限，防止横向越权访问</a:t>
            </a:r>
            <a:endParaRPr lang="en-US" sz="1300" dirty="0"/>
          </a:p>
        </p:txBody>
      </p:sp>
      <p:sp>
        <p:nvSpPr>
          <p:cNvPr id="69" name="Shape 26"/>
          <p:cNvSpPr/>
          <p:nvPr/>
        </p:nvSpPr>
        <p:spPr>
          <a:xfrm>
            <a:off x="4297680" y="3931920"/>
            <a:ext cx="356616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effectLst>
            <a:outerShdw blurRad="152400" dist="50800" dir="5400000" algn="ctr" rotWithShape="0">
              <a:srgbClr val="1E293B">
                <a:alpha val="7000"/>
              </a:srgbClr>
            </a:outerShdw>
          </a:effectLst>
        </p:spPr>
      </p:sp>
      <p:sp>
        <p:nvSpPr>
          <p:cNvPr id="70" name="Shape 27"/>
          <p:cNvSpPr/>
          <p:nvPr/>
        </p:nvSpPr>
        <p:spPr>
          <a:xfrm>
            <a:off x="4572000" y="4206240"/>
            <a:ext cx="640080" cy="640080"/>
          </a:xfrm>
          <a:prstGeom prst="ellipse">
            <a:avLst/>
          </a:prstGeom>
          <a:solidFill>
            <a:srgbClr val="6D2E46"/>
          </a:solidFill>
        </p:spPr>
      </p:sp>
      <p:sp>
        <p:nvSpPr>
          <p:cNvPr id="71" name="Text 28"/>
          <p:cNvSpPr/>
          <p:nvPr/>
        </p:nvSpPr>
        <p:spPr>
          <a:xfrm>
            <a:off x="4572000" y="420624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5</a:t>
            </a:r>
            <a:endParaRPr lang="en-US" sz="2000" dirty="0"/>
          </a:p>
        </p:txBody>
      </p:sp>
      <p:sp>
        <p:nvSpPr>
          <p:cNvPr id="72" name="Text 29"/>
          <p:cNvSpPr/>
          <p:nvPr/>
        </p:nvSpPr>
        <p:spPr>
          <a:xfrm>
            <a:off x="5394960" y="425196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D3748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异步任务</a:t>
            </a:r>
            <a:endParaRPr lang="en-US" sz="1800" dirty="0"/>
          </a:p>
        </p:txBody>
      </p:sp>
      <p:sp>
        <p:nvSpPr>
          <p:cNvPr id="73" name="Text 30"/>
          <p:cNvSpPr/>
          <p:nvPr/>
        </p:nvSpPr>
        <p:spPr>
          <a:xfrm>
            <a:off x="4572000" y="5029200"/>
            <a:ext cx="3017520" cy="95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Celery分布式队列+Redis作为Broker，beat调度定时任务处理订单超时关闭、自动确认收货、优惠券失效等周期逻辑，与主业务解耦异步执行</a:t>
            </a:r>
            <a:endParaRPr lang="en-US" sz="1300" dirty="0"/>
          </a:p>
        </p:txBody>
      </p:sp>
      <p:sp>
        <p:nvSpPr>
          <p:cNvPr id="74" name="Shape 31"/>
          <p:cNvSpPr/>
          <p:nvPr/>
        </p:nvSpPr>
        <p:spPr>
          <a:xfrm>
            <a:off x="8046720" y="3931920"/>
            <a:ext cx="356616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effectLst>
            <a:outerShdw blurRad="152400" dist="50800" dir="5400000" algn="ctr" rotWithShape="0">
              <a:srgbClr val="1E293B">
                <a:alpha val="7000"/>
              </a:srgbClr>
            </a:outerShdw>
          </a:effectLst>
        </p:spPr>
      </p:sp>
      <p:sp>
        <p:nvSpPr>
          <p:cNvPr id="75" name="Shape 32"/>
          <p:cNvSpPr/>
          <p:nvPr/>
        </p:nvSpPr>
        <p:spPr>
          <a:xfrm>
            <a:off x="8321040" y="4206240"/>
            <a:ext cx="640080" cy="640080"/>
          </a:xfrm>
          <a:prstGeom prst="ellipse">
            <a:avLst/>
          </a:prstGeom>
          <a:solidFill>
            <a:srgbClr val="2C5F2D"/>
          </a:solidFill>
        </p:spPr>
      </p:sp>
      <p:sp>
        <p:nvSpPr>
          <p:cNvPr id="76" name="Text 33"/>
          <p:cNvSpPr/>
          <p:nvPr/>
        </p:nvSpPr>
        <p:spPr>
          <a:xfrm>
            <a:off x="8321040" y="420624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6</a:t>
            </a:r>
            <a:endParaRPr lang="en-US" sz="2000" dirty="0"/>
          </a:p>
        </p:txBody>
      </p:sp>
      <p:sp>
        <p:nvSpPr>
          <p:cNvPr id="77" name="Text 34"/>
          <p:cNvSpPr/>
          <p:nvPr/>
        </p:nvSpPr>
        <p:spPr>
          <a:xfrm>
            <a:off x="9144000" y="425196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D3748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版本管理</a:t>
            </a:r>
            <a:endParaRPr lang="en-US" sz="1800" dirty="0"/>
          </a:p>
        </p:txBody>
      </p:sp>
      <p:sp>
        <p:nvSpPr>
          <p:cNvPr id="78" name="Text 35"/>
          <p:cNvSpPr/>
          <p:nvPr/>
        </p:nvSpPr>
        <p:spPr>
          <a:xfrm>
            <a:off x="8321040" y="5029200"/>
            <a:ext cx="3017520" cy="95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Git feature分支开发主干合并，小步高频提交；接口契约先行定义，前后端依契约并行开发，文档与代码实现同步迭代更新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8FAFC"/>
            </a:gs>
            <a:gs pos="50000">
              <a:srgbClr val="F1F5FA"/>
            </a:gs>
            <a:gs pos="100000">
              <a:srgbClr val="E6EDF5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5695" y="-1371600"/>
            <a:ext cx="4572000" cy="4572000"/>
          </a:xfrm>
          <a:prstGeom prst="ellipse">
            <a:avLst/>
          </a:prstGeom>
          <a:solidFill>
            <a:srgbClr val="3B82F6">
              <a:alpha val="8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-914400" y="4572000"/>
            <a:ext cx="2743200" cy="2743200"/>
          </a:xfrm>
          <a:prstGeom prst="ellipse">
            <a:avLst/>
          </a:prstGeom>
          <a:solidFill>
            <a:srgbClr val="14B8A6">
              <a:alpha val="10000"/>
            </a:srgbClr>
          </a:solidFill>
        </p:spPr>
      </p:sp>
      <p:sp>
        <p:nvSpPr>
          <p:cNvPr id="4" name="Shape 2"/>
          <p:cNvSpPr/>
          <p:nvPr/>
        </p:nvSpPr>
        <p:spPr>
          <a:xfrm>
            <a:off x="11094415" y="566928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F59E0B">
              <a:alpha val="20000"/>
            </a:srgbClr>
          </a:solidFill>
        </p:spPr>
      </p:sp>
      <p:sp>
        <p:nvSpPr>
          <p:cNvPr id="5" name="Shape 3"/>
          <p:cNvSpPr/>
          <p:nvPr/>
        </p:nvSpPr>
        <p:spPr>
          <a:xfrm>
            <a:off x="365760" y="320040"/>
            <a:ext cx="411480" cy="411480"/>
          </a:xfrm>
          <a:prstGeom prst="roundRect">
            <a:avLst>
              <a:gd name="adj" fmla="val 15556"/>
            </a:avLst>
          </a:prstGeom>
          <a:solidFill>
            <a:srgbClr val="1E40AF"/>
          </a:solidFill>
        </p:spPr>
      </p:sp>
      <p:sp>
        <p:nvSpPr>
          <p:cNvPr id="6" name="Shape 4"/>
          <p:cNvSpPr/>
          <p:nvPr/>
        </p:nvSpPr>
        <p:spPr>
          <a:xfrm>
            <a:off x="548640" y="475488"/>
            <a:ext cx="594360" cy="594360"/>
          </a:xfrm>
          <a:prstGeom prst="roundRect">
            <a:avLst>
              <a:gd name="adj" fmla="val 13846"/>
            </a:avLst>
          </a:prstGeom>
          <a:solidFill>
            <a:srgbClr val="1E40AF"/>
          </a:solidFill>
          <a:effectLst>
            <a:outerShdw blurRad="165100" dist="38100" dir="5400000" algn="ctr" rotWithShape="0">
              <a:srgbClr val="1E293B">
                <a:alpha val="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475488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325880" y="475488"/>
            <a:ext cx="9144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0D948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CHAPTER 04  ·  CORE FEATURES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307592" y="768096"/>
            <a:ext cx="1024128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核心功能矩阵</a:t>
            </a:r>
            <a:endParaRPr lang="en-US" sz="3000" dirty="0"/>
          </a:p>
        </p:txBody>
      </p:sp>
      <p:sp>
        <p:nvSpPr>
          <p:cNvPr id="27" name="Shape 2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172A">
              <a:alpha val="4000"/>
            </a:srgbClr>
          </a:solidFill>
        </p:spPr>
      </p:sp>
      <p:sp>
        <p:nvSpPr>
          <p:cNvPr id="28" name="Text 26"/>
          <p:cNvSpPr/>
          <p:nvPr/>
        </p:nvSpPr>
        <p:spPr>
          <a:xfrm>
            <a:off x="548640" y="653796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一次买够 · 社交新零售电商平台  It's Mygo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362895" y="6537960"/>
            <a:ext cx="12801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7 / 18</a:t>
            </a:r>
            <a:endParaRPr lang="en-US" sz="900" dirty="0"/>
          </a:p>
        </p:txBody>
      </p:sp>
      <p:sp>
        <p:nvSpPr>
          <p:cNvPr id="30" name="Shape 6"/>
          <p:cNvSpPr/>
          <p:nvPr/>
        </p:nvSpPr>
        <p:spPr>
          <a:xfrm>
            <a:off x="548640" y="1554480"/>
            <a:ext cx="356616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effectLst>
            <a:outerShdw blurRad="152400" dist="50800" dir="5400000" algn="ctr" rotWithShape="0">
              <a:srgbClr val="1E293B">
                <a:alpha val="7000"/>
              </a:srgbClr>
            </a:outerShdw>
          </a:effectLst>
        </p:spPr>
      </p:sp>
      <p:sp>
        <p:nvSpPr>
          <p:cNvPr id="31" name="Shape 7"/>
          <p:cNvSpPr/>
          <p:nvPr/>
        </p:nvSpPr>
        <p:spPr>
          <a:xfrm>
            <a:off x="548640" y="1554480"/>
            <a:ext cx="73152" cy="2103120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32" name="Text 8"/>
          <p:cNvSpPr/>
          <p:nvPr/>
        </p:nvSpPr>
        <p:spPr>
          <a:xfrm>
            <a:off x="822960" y="1783080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用户端商城</a:t>
            </a:r>
            <a:endParaRPr lang="en-US" sz="1800" dirty="0"/>
          </a:p>
        </p:txBody>
      </p:sp>
      <p:sp>
        <p:nvSpPr>
          <p:cNvPr id="33" name="Text 9"/>
          <p:cNvSpPr/>
          <p:nvPr/>
        </p:nvSpPr>
        <p:spPr>
          <a:xfrm>
            <a:off x="822960" y="2331720"/>
            <a:ext cx="301752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商品浏览/检索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购物车跨店聚合结算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支付宝支付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订单/评价/售后</a:t>
            </a:r>
            <a:endParaRPr lang="en-US" sz="1300" dirty="0"/>
          </a:p>
        </p:txBody>
      </p:sp>
      <p:sp>
        <p:nvSpPr>
          <p:cNvPr id="34" name="Shape 10"/>
          <p:cNvSpPr/>
          <p:nvPr/>
        </p:nvSpPr>
        <p:spPr>
          <a:xfrm>
            <a:off x="4297680" y="1554480"/>
            <a:ext cx="356616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effectLst>
            <a:outerShdw blurRad="152400" dist="50800" dir="5400000" algn="ctr" rotWithShape="0">
              <a:srgbClr val="1E293B">
                <a:alpha val="7000"/>
              </a:srgbClr>
            </a:outerShdw>
          </a:effectLst>
        </p:spPr>
      </p:sp>
      <p:sp>
        <p:nvSpPr>
          <p:cNvPr id="35" name="Shape 11"/>
          <p:cNvSpPr/>
          <p:nvPr/>
        </p:nvSpPr>
        <p:spPr>
          <a:xfrm>
            <a:off x="4297680" y="1554480"/>
            <a:ext cx="73152" cy="2103120"/>
          </a:xfrm>
          <a:prstGeom prst="rect">
            <a:avLst/>
          </a:prstGeom>
          <a:solidFill>
            <a:srgbClr val="F96167"/>
          </a:solidFill>
        </p:spPr>
      </p:sp>
      <p:sp>
        <p:nvSpPr>
          <p:cNvPr id="36" name="Text 12"/>
          <p:cNvSpPr/>
          <p:nvPr/>
        </p:nvSpPr>
        <p:spPr>
          <a:xfrm>
            <a:off x="4572000" y="1783080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96167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商家后台</a:t>
            </a:r>
            <a:endParaRPr lang="en-US" sz="1800" dirty="0"/>
          </a:p>
        </p:txBody>
      </p:sp>
      <p:sp>
        <p:nvSpPr>
          <p:cNvPr id="37" name="Text 13"/>
          <p:cNvSpPr/>
          <p:nvPr/>
        </p:nvSpPr>
        <p:spPr>
          <a:xfrm>
            <a:off x="4572000" y="2331720"/>
            <a:ext cx="301752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入驻审核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商品/SKU/库存管理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促销/拼团配置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发货/客服/报表</a:t>
            </a:r>
            <a:endParaRPr lang="en-US" sz="1300" dirty="0"/>
          </a:p>
        </p:txBody>
      </p:sp>
      <p:sp>
        <p:nvSpPr>
          <p:cNvPr id="38" name="Shape 14"/>
          <p:cNvSpPr/>
          <p:nvPr/>
        </p:nvSpPr>
        <p:spPr>
          <a:xfrm>
            <a:off x="8046720" y="1554480"/>
            <a:ext cx="356616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effectLst>
            <a:outerShdw blurRad="152400" dist="50800" dir="5400000" algn="ctr" rotWithShape="0">
              <a:srgbClr val="1E293B">
                <a:alpha val="7000"/>
              </a:srgbClr>
            </a:outerShdw>
          </a:effectLst>
        </p:spPr>
      </p:sp>
      <p:sp>
        <p:nvSpPr>
          <p:cNvPr id="39" name="Shape 15"/>
          <p:cNvSpPr/>
          <p:nvPr/>
        </p:nvSpPr>
        <p:spPr>
          <a:xfrm>
            <a:off x="8046720" y="1554480"/>
            <a:ext cx="73152" cy="2103120"/>
          </a:xfrm>
          <a:prstGeom prst="rect">
            <a:avLst/>
          </a:prstGeom>
          <a:solidFill>
            <a:srgbClr val="028090"/>
          </a:solidFill>
        </p:spPr>
      </p:sp>
      <p:sp>
        <p:nvSpPr>
          <p:cNvPr id="40" name="Text 16"/>
          <p:cNvSpPr/>
          <p:nvPr/>
        </p:nvSpPr>
        <p:spPr>
          <a:xfrm>
            <a:off x="8321040" y="1783080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平台后台</a:t>
            </a:r>
            <a:endParaRPr lang="en-US" sz="1800" dirty="0"/>
          </a:p>
        </p:txBody>
      </p:sp>
      <p:sp>
        <p:nvSpPr>
          <p:cNvPr id="41" name="Text 17"/>
          <p:cNvSpPr/>
          <p:nvPr/>
        </p:nvSpPr>
        <p:spPr>
          <a:xfrm>
            <a:off x="8321040" y="2331720"/>
            <a:ext cx="301752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商家审核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分类/轮播/内容监管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会员积分配置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全局运营数据报表</a:t>
            </a:r>
            <a:endParaRPr lang="en-US" sz="1300" dirty="0"/>
          </a:p>
        </p:txBody>
      </p:sp>
      <p:sp>
        <p:nvSpPr>
          <p:cNvPr id="42" name="Shape 18"/>
          <p:cNvSpPr/>
          <p:nvPr/>
        </p:nvSpPr>
        <p:spPr>
          <a:xfrm>
            <a:off x="548640" y="3931920"/>
            <a:ext cx="356616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effectLst>
            <a:outerShdw blurRad="152400" dist="50800" dir="5400000" algn="ctr" rotWithShape="0">
              <a:srgbClr val="1E293B">
                <a:alpha val="7000"/>
              </a:srgbClr>
            </a:outerShdw>
          </a:effectLst>
        </p:spPr>
      </p:sp>
      <p:sp>
        <p:nvSpPr>
          <p:cNvPr id="43" name="Shape 19"/>
          <p:cNvSpPr/>
          <p:nvPr/>
        </p:nvSpPr>
        <p:spPr>
          <a:xfrm>
            <a:off x="548640" y="3931920"/>
            <a:ext cx="73152" cy="2103120"/>
          </a:xfrm>
          <a:prstGeom prst="rect">
            <a:avLst/>
          </a:prstGeom>
          <a:solidFill>
            <a:srgbClr val="B85042"/>
          </a:solidFill>
        </p:spPr>
      </p:sp>
      <p:sp>
        <p:nvSpPr>
          <p:cNvPr id="44" name="Text 20"/>
          <p:cNvSpPr/>
          <p:nvPr/>
        </p:nvSpPr>
        <p:spPr>
          <a:xfrm>
            <a:off x="822960" y="4160520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85042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社交与促销</a:t>
            </a:r>
            <a:endParaRPr lang="en-US" sz="1800" dirty="0"/>
          </a:p>
        </p:txBody>
      </p:sp>
      <p:sp>
        <p:nvSpPr>
          <p:cNvPr id="45" name="Text 21"/>
          <p:cNvSpPr/>
          <p:nvPr/>
        </p:nvSpPr>
        <p:spPr>
          <a:xfrm>
            <a:off x="822960" y="4709160"/>
            <a:ext cx="301752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社区种草/话题运营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优惠券/满减促销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拼团活动引擎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积分激励体系</a:t>
            </a:r>
            <a:endParaRPr lang="en-US" sz="1300" dirty="0"/>
          </a:p>
        </p:txBody>
      </p:sp>
      <p:sp>
        <p:nvSpPr>
          <p:cNvPr id="46" name="Shape 22"/>
          <p:cNvSpPr/>
          <p:nvPr/>
        </p:nvSpPr>
        <p:spPr>
          <a:xfrm>
            <a:off x="4297680" y="3931920"/>
            <a:ext cx="356616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effectLst>
            <a:outerShdw blurRad="152400" dist="50800" dir="5400000" algn="ctr" rotWithShape="0">
              <a:srgbClr val="1E293B">
                <a:alpha val="7000"/>
              </a:srgbClr>
            </a:outerShdw>
          </a:effectLst>
        </p:spPr>
      </p:sp>
      <p:sp>
        <p:nvSpPr>
          <p:cNvPr id="47" name="Shape 23"/>
          <p:cNvSpPr/>
          <p:nvPr/>
        </p:nvSpPr>
        <p:spPr>
          <a:xfrm>
            <a:off x="4297680" y="3931920"/>
            <a:ext cx="73152" cy="2103120"/>
          </a:xfrm>
          <a:prstGeom prst="rect">
            <a:avLst/>
          </a:prstGeom>
          <a:solidFill>
            <a:srgbClr val="6D2E46"/>
          </a:solidFill>
        </p:spPr>
      </p:sp>
      <p:sp>
        <p:nvSpPr>
          <p:cNvPr id="48" name="Text 24"/>
          <p:cNvSpPr/>
          <p:nvPr/>
        </p:nvSpPr>
        <p:spPr>
          <a:xfrm>
            <a:off x="4572000" y="4160520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D2E46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客服系统</a:t>
            </a:r>
            <a:endParaRPr lang="en-US" sz="1800" dirty="0"/>
          </a:p>
        </p:txBody>
      </p:sp>
      <p:sp>
        <p:nvSpPr>
          <p:cNvPr id="49" name="Text 25"/>
          <p:cNvSpPr/>
          <p:nvPr/>
        </p:nvSpPr>
        <p:spPr>
          <a:xfrm>
            <a:off x="4572000" y="4709160"/>
            <a:ext cx="301752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平台/商家会话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商品订单上下文弹窗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WebSocket实时推送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自动欢迎语</a:t>
            </a:r>
            <a:endParaRPr lang="en-US" sz="1300" dirty="0"/>
          </a:p>
        </p:txBody>
      </p:sp>
      <p:sp>
        <p:nvSpPr>
          <p:cNvPr id="50" name="Shape 26"/>
          <p:cNvSpPr/>
          <p:nvPr/>
        </p:nvSpPr>
        <p:spPr>
          <a:xfrm>
            <a:off x="8046720" y="3931920"/>
            <a:ext cx="356616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effectLst>
            <a:outerShdw blurRad="152400" dist="50800" dir="5400000" algn="ctr" rotWithShape="0">
              <a:srgbClr val="1E293B">
                <a:alpha val="7000"/>
              </a:srgbClr>
            </a:outerShdw>
          </a:effectLst>
        </p:spPr>
      </p:sp>
      <p:sp>
        <p:nvSpPr>
          <p:cNvPr id="51" name="Shape 27"/>
          <p:cNvSpPr/>
          <p:nvPr/>
        </p:nvSpPr>
        <p:spPr>
          <a:xfrm>
            <a:off x="8046720" y="3931920"/>
            <a:ext cx="73152" cy="2103120"/>
          </a:xfrm>
          <a:prstGeom prst="rect">
            <a:avLst/>
          </a:prstGeom>
          <a:solidFill>
            <a:srgbClr val="2C5F2D"/>
          </a:solidFill>
        </p:spPr>
      </p:sp>
      <p:sp>
        <p:nvSpPr>
          <p:cNvPr id="52" name="Text 28"/>
          <p:cNvSpPr/>
          <p:nvPr/>
        </p:nvSpPr>
        <p:spPr>
          <a:xfrm>
            <a:off x="8321040" y="4160520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C5F2D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AI助手</a:t>
            </a:r>
            <a:endParaRPr lang="en-US" sz="1800" dirty="0"/>
          </a:p>
        </p:txBody>
      </p:sp>
      <p:sp>
        <p:nvSpPr>
          <p:cNvPr id="53" name="Text 29"/>
          <p:cNvSpPr/>
          <p:nvPr/>
        </p:nvSpPr>
        <p:spPr>
          <a:xfrm>
            <a:off x="8321040" y="4709160"/>
            <a:ext cx="301752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悬浮式购物助手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qwen-flash模型接入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购物流程智能咨询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2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可扩展智能导购引擎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8FAFC"/>
            </a:gs>
            <a:gs pos="50000">
              <a:srgbClr val="F1F5FA"/>
            </a:gs>
            <a:gs pos="100000">
              <a:srgbClr val="E6EDF5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5695" y="-1371600"/>
            <a:ext cx="4572000" cy="4572000"/>
          </a:xfrm>
          <a:prstGeom prst="ellipse">
            <a:avLst/>
          </a:prstGeom>
          <a:solidFill>
            <a:srgbClr val="3B82F6">
              <a:alpha val="8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-914400" y="4572000"/>
            <a:ext cx="2743200" cy="2743200"/>
          </a:xfrm>
          <a:prstGeom prst="ellipse">
            <a:avLst/>
          </a:prstGeom>
          <a:solidFill>
            <a:srgbClr val="14B8A6">
              <a:alpha val="10000"/>
            </a:srgbClr>
          </a:solidFill>
        </p:spPr>
      </p:sp>
      <p:sp>
        <p:nvSpPr>
          <p:cNvPr id="4" name="Shape 2"/>
          <p:cNvSpPr/>
          <p:nvPr/>
        </p:nvSpPr>
        <p:spPr>
          <a:xfrm>
            <a:off x="11094415" y="566928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F59E0B">
              <a:alpha val="20000"/>
            </a:srgbClr>
          </a:solidFill>
        </p:spPr>
      </p:sp>
      <p:sp>
        <p:nvSpPr>
          <p:cNvPr id="5" name="Shape 3"/>
          <p:cNvSpPr/>
          <p:nvPr/>
        </p:nvSpPr>
        <p:spPr>
          <a:xfrm>
            <a:off x="365760" y="320040"/>
            <a:ext cx="411480" cy="411480"/>
          </a:xfrm>
          <a:prstGeom prst="roundRect">
            <a:avLst>
              <a:gd name="adj" fmla="val 15556"/>
            </a:avLst>
          </a:prstGeom>
          <a:solidFill>
            <a:srgbClr val="1E40AF"/>
          </a:solidFill>
        </p:spPr>
      </p:sp>
      <p:sp>
        <p:nvSpPr>
          <p:cNvPr id="6" name="Shape 4"/>
          <p:cNvSpPr/>
          <p:nvPr/>
        </p:nvSpPr>
        <p:spPr>
          <a:xfrm>
            <a:off x="548640" y="475488"/>
            <a:ext cx="594360" cy="594360"/>
          </a:xfrm>
          <a:prstGeom prst="roundRect">
            <a:avLst>
              <a:gd name="adj" fmla="val 13846"/>
            </a:avLst>
          </a:prstGeom>
          <a:solidFill>
            <a:srgbClr val="1E40AF"/>
          </a:solidFill>
          <a:effectLst>
            <a:outerShdw blurRad="165100" dist="38100" dir="5400000" algn="ctr" rotWithShape="0">
              <a:srgbClr val="1E293B">
                <a:alpha val="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475488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325880" y="475488"/>
            <a:ext cx="9144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0D948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CHAPTER 04  ·  INNOVATION HIGHLIGHTS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307592" y="768096"/>
            <a:ext cx="1024128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功能创新与技术难点</a:t>
            </a:r>
            <a:endParaRPr lang="en-US" sz="3000" dirty="0"/>
          </a:p>
        </p:txBody>
      </p:sp>
      <p:sp>
        <p:nvSpPr>
          <p:cNvPr id="40" name="Shape 3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172A">
              <a:alpha val="4000"/>
            </a:srgbClr>
          </a:solidFill>
        </p:spPr>
      </p:sp>
      <p:sp>
        <p:nvSpPr>
          <p:cNvPr id="41" name="Text 39"/>
          <p:cNvSpPr/>
          <p:nvPr/>
        </p:nvSpPr>
        <p:spPr>
          <a:xfrm>
            <a:off x="548640" y="653796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一次买够 · 社交新零售电商平台  It's Mygo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0362895" y="6537960"/>
            <a:ext cx="12801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8 / 18</a:t>
            </a:r>
            <a:endParaRPr lang="en-US" sz="900" dirty="0"/>
          </a:p>
        </p:txBody>
      </p:sp>
      <p:sp>
        <p:nvSpPr>
          <p:cNvPr id="85" name="Shape 5"/>
          <p:cNvSpPr/>
          <p:nvPr/>
        </p:nvSpPr>
        <p:spPr>
          <a:xfrm>
            <a:off x="548640" y="1828800"/>
            <a:ext cx="352044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B"/>
            </a:solidFill>
            <a:prstDash val="solid"/>
          </a:ln>
          <a:effectLst>
            <a:outerShdw blurRad="177800" dist="38100" dir="5400000" algn="bl" rotWithShape="0">
              <a:srgbClr val="1E3A5F">
                <a:alpha val="7000"/>
              </a:srgbClr>
            </a:outerShdw>
          </a:effectLst>
        </p:spPr>
      </p:sp>
      <p:sp>
        <p:nvSpPr>
          <p:cNvPr id="86" name="Shape 6"/>
          <p:cNvSpPr/>
          <p:nvPr/>
        </p:nvSpPr>
        <p:spPr>
          <a:xfrm>
            <a:off x="548640" y="1828800"/>
            <a:ext cx="3520440" cy="54864"/>
          </a:xfrm>
          <a:prstGeom prst="rect">
            <a:avLst/>
          </a:prstGeom>
          <a:solidFill>
            <a:srgbClr val="2E86AB"/>
          </a:solidFill>
        </p:spPr>
      </p:sp>
      <p:sp>
        <p:nvSpPr>
          <p:cNvPr id="87" name="Shape 7"/>
          <p:cNvSpPr/>
          <p:nvPr/>
        </p:nvSpPr>
        <p:spPr>
          <a:xfrm>
            <a:off x="777240" y="2057400"/>
            <a:ext cx="502920" cy="502920"/>
          </a:xfrm>
          <a:prstGeom prst="diamond">
            <a:avLst/>
          </a:prstGeom>
          <a:solidFill>
            <a:srgbClr val="2E86AB"/>
          </a:solidFill>
          <a:effectLst>
            <a:outerShdw blurRad="127000" dist="25400" dir="5400000" algn="bl" rotWithShape="0">
              <a:srgbClr val="1E3A5F">
                <a:alpha val="6000"/>
              </a:srgbClr>
            </a:outerShdw>
          </a:effectLst>
        </p:spPr>
      </p:sp>
      <p:sp>
        <p:nvSpPr>
          <p:cNvPr id="88" name="Text 8"/>
          <p:cNvSpPr/>
          <p:nvPr/>
        </p:nvSpPr>
        <p:spPr>
          <a:xfrm>
            <a:off x="777240" y="205740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01</a:t>
            </a:r>
            <a:endParaRPr lang="en-US" sz="1300" dirty="0"/>
          </a:p>
        </p:txBody>
      </p:sp>
      <p:sp>
        <p:nvSpPr>
          <p:cNvPr id="89" name="Text 9"/>
          <p:cNvSpPr/>
          <p:nvPr/>
        </p:nvSpPr>
        <p:spPr>
          <a:xfrm>
            <a:off x="1417320" y="2029968"/>
            <a:ext cx="24231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社交种草闭环</a:t>
            </a:r>
            <a:endParaRPr lang="en-US" sz="1500" dirty="0"/>
          </a:p>
        </p:txBody>
      </p:sp>
      <p:sp>
        <p:nvSpPr>
          <p:cNvPr id="90" name="Shape 10"/>
          <p:cNvSpPr/>
          <p:nvPr/>
        </p:nvSpPr>
        <p:spPr>
          <a:xfrm>
            <a:off x="822960" y="2651760"/>
            <a:ext cx="2971800" cy="18288"/>
          </a:xfrm>
          <a:prstGeom prst="rect">
            <a:avLst/>
          </a:prstGeom>
          <a:solidFill>
            <a:srgbClr val="E8ECF1"/>
          </a:solidFill>
        </p:spPr>
      </p:sp>
      <p:sp>
        <p:nvSpPr>
          <p:cNvPr id="91" name="Text 11"/>
          <p:cNvSpPr/>
          <p:nvPr/>
        </p:nvSpPr>
        <p:spPr>
          <a:xfrm>
            <a:off x="822960" y="2788920"/>
            <a:ext cx="297180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D4A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种草帖关联商品→来源加购→确认收货双向积分，内容驱动交易转化闭环</a:t>
            </a:r>
            <a:endParaRPr lang="en-US" sz="1100" dirty="0"/>
          </a:p>
        </p:txBody>
      </p:sp>
      <p:sp>
        <p:nvSpPr>
          <p:cNvPr id="92" name="Shape 12"/>
          <p:cNvSpPr/>
          <p:nvPr/>
        </p:nvSpPr>
        <p:spPr>
          <a:xfrm>
            <a:off x="4343400" y="1828800"/>
            <a:ext cx="352044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B"/>
            </a:solidFill>
            <a:prstDash val="solid"/>
          </a:ln>
          <a:effectLst>
            <a:outerShdw blurRad="177800" dist="38100" dir="5400000" algn="bl" rotWithShape="0">
              <a:srgbClr val="1E3A5F">
                <a:alpha val="7000"/>
              </a:srgbClr>
            </a:outerShdw>
          </a:effectLst>
        </p:spPr>
      </p:sp>
      <p:sp>
        <p:nvSpPr>
          <p:cNvPr id="93" name="Shape 13"/>
          <p:cNvSpPr/>
          <p:nvPr/>
        </p:nvSpPr>
        <p:spPr>
          <a:xfrm>
            <a:off x="4343400" y="1828800"/>
            <a:ext cx="3520440" cy="54864"/>
          </a:xfrm>
          <a:prstGeom prst="rect">
            <a:avLst/>
          </a:prstGeom>
          <a:solidFill>
            <a:srgbClr val="38A3A5"/>
          </a:solidFill>
        </p:spPr>
      </p:sp>
      <p:sp>
        <p:nvSpPr>
          <p:cNvPr id="94" name="Shape 14"/>
          <p:cNvSpPr/>
          <p:nvPr/>
        </p:nvSpPr>
        <p:spPr>
          <a:xfrm>
            <a:off x="4572000" y="2057400"/>
            <a:ext cx="502920" cy="502920"/>
          </a:xfrm>
          <a:prstGeom prst="diamond">
            <a:avLst/>
          </a:prstGeom>
          <a:solidFill>
            <a:srgbClr val="38A3A5"/>
          </a:solidFill>
          <a:effectLst>
            <a:outerShdw blurRad="127000" dist="25400" dir="5400000" algn="bl" rotWithShape="0">
              <a:srgbClr val="1E3A5F">
                <a:alpha val="6000"/>
              </a:srgbClr>
            </a:outerShdw>
          </a:effectLst>
        </p:spPr>
      </p:sp>
      <p:sp>
        <p:nvSpPr>
          <p:cNvPr id="95" name="Text 15"/>
          <p:cNvSpPr/>
          <p:nvPr/>
        </p:nvSpPr>
        <p:spPr>
          <a:xfrm>
            <a:off x="4572000" y="205740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02</a:t>
            </a:r>
            <a:endParaRPr lang="en-US" sz="1300" dirty="0"/>
          </a:p>
        </p:txBody>
      </p:sp>
      <p:sp>
        <p:nvSpPr>
          <p:cNvPr id="96" name="Text 16"/>
          <p:cNvSpPr/>
          <p:nvPr/>
        </p:nvSpPr>
        <p:spPr>
          <a:xfrm>
            <a:off x="5212080" y="2029968"/>
            <a:ext cx="24231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跨店拆单共付</a:t>
            </a:r>
            <a:endParaRPr lang="en-US" sz="1500" dirty="0"/>
          </a:p>
        </p:txBody>
      </p:sp>
      <p:sp>
        <p:nvSpPr>
          <p:cNvPr id="97" name="Shape 17"/>
          <p:cNvSpPr/>
          <p:nvPr/>
        </p:nvSpPr>
        <p:spPr>
          <a:xfrm>
            <a:off x="4617720" y="2651760"/>
            <a:ext cx="2971800" cy="18288"/>
          </a:xfrm>
          <a:prstGeom prst="rect">
            <a:avLst/>
          </a:prstGeom>
          <a:solidFill>
            <a:srgbClr val="E8ECF1"/>
          </a:solidFill>
        </p:spPr>
      </p:sp>
      <p:sp>
        <p:nvSpPr>
          <p:cNvPr id="98" name="Text 18"/>
          <p:cNvSpPr/>
          <p:nvPr/>
        </p:nvSpPr>
        <p:spPr>
          <a:xfrm>
            <a:off x="4617720" y="2788920"/>
            <a:ext cx="297180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D4A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跨店下单按店铺拆分多子订单共用支付单，平台券/满减自动分摊</a:t>
            </a:r>
            <a:endParaRPr lang="en-US" sz="1100" dirty="0"/>
          </a:p>
        </p:txBody>
      </p:sp>
      <p:sp>
        <p:nvSpPr>
          <p:cNvPr id="99" name="Shape 19"/>
          <p:cNvSpPr/>
          <p:nvPr/>
        </p:nvSpPr>
        <p:spPr>
          <a:xfrm>
            <a:off x="8138160" y="1828800"/>
            <a:ext cx="352044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B"/>
            </a:solidFill>
            <a:prstDash val="solid"/>
          </a:ln>
          <a:effectLst>
            <a:outerShdw blurRad="177800" dist="38100" dir="5400000" algn="bl" rotWithShape="0">
              <a:srgbClr val="1E3A5F">
                <a:alpha val="7000"/>
              </a:srgbClr>
            </a:outerShdw>
          </a:effectLst>
        </p:spPr>
      </p:sp>
      <p:sp>
        <p:nvSpPr>
          <p:cNvPr id="100" name="Shape 20"/>
          <p:cNvSpPr/>
          <p:nvPr/>
        </p:nvSpPr>
        <p:spPr>
          <a:xfrm>
            <a:off x="8138160" y="1828800"/>
            <a:ext cx="3520440" cy="54864"/>
          </a:xfrm>
          <a:prstGeom prst="rect">
            <a:avLst/>
          </a:prstGeom>
          <a:solidFill>
            <a:srgbClr val="E07A5F"/>
          </a:solidFill>
        </p:spPr>
      </p:sp>
      <p:sp>
        <p:nvSpPr>
          <p:cNvPr id="101" name="Shape 21"/>
          <p:cNvSpPr/>
          <p:nvPr/>
        </p:nvSpPr>
        <p:spPr>
          <a:xfrm>
            <a:off x="8366760" y="2057400"/>
            <a:ext cx="502920" cy="502920"/>
          </a:xfrm>
          <a:prstGeom prst="diamond">
            <a:avLst/>
          </a:prstGeom>
          <a:solidFill>
            <a:srgbClr val="E07A5F"/>
          </a:solidFill>
          <a:effectLst>
            <a:outerShdw blurRad="127000" dist="25400" dir="5400000" algn="bl" rotWithShape="0">
              <a:srgbClr val="1E3A5F">
                <a:alpha val="6000"/>
              </a:srgbClr>
            </a:outerShdw>
          </a:effectLst>
        </p:spPr>
      </p:sp>
      <p:sp>
        <p:nvSpPr>
          <p:cNvPr id="102" name="Text 22"/>
          <p:cNvSpPr/>
          <p:nvPr/>
        </p:nvSpPr>
        <p:spPr>
          <a:xfrm>
            <a:off x="8366760" y="205740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03</a:t>
            </a:r>
            <a:endParaRPr lang="en-US" sz="1300" dirty="0"/>
          </a:p>
        </p:txBody>
      </p:sp>
      <p:sp>
        <p:nvSpPr>
          <p:cNvPr id="103" name="Text 23"/>
          <p:cNvSpPr/>
          <p:nvPr/>
        </p:nvSpPr>
        <p:spPr>
          <a:xfrm>
            <a:off x="9006840" y="2029968"/>
            <a:ext cx="24231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五级价格链</a:t>
            </a:r>
            <a:endParaRPr lang="en-US" sz="1500" dirty="0"/>
          </a:p>
        </p:txBody>
      </p:sp>
      <p:sp>
        <p:nvSpPr>
          <p:cNvPr id="104" name="Shape 24"/>
          <p:cNvSpPr/>
          <p:nvPr/>
        </p:nvSpPr>
        <p:spPr>
          <a:xfrm>
            <a:off x="8412480" y="2651760"/>
            <a:ext cx="2971800" cy="18288"/>
          </a:xfrm>
          <a:prstGeom prst="rect">
            <a:avLst/>
          </a:prstGeom>
          <a:solidFill>
            <a:srgbClr val="E8ECF1"/>
          </a:solidFill>
        </p:spPr>
      </p:sp>
      <p:sp>
        <p:nvSpPr>
          <p:cNvPr id="105" name="Text 25"/>
          <p:cNvSpPr/>
          <p:nvPr/>
        </p:nvSpPr>
        <p:spPr>
          <a:xfrm>
            <a:off x="8412480" y="2788920"/>
            <a:ext cx="297180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D4A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活动价→满减→优惠券→积分抵扣→支付，五级价格计算顺序精确且跨店一致</a:t>
            </a:r>
            <a:endParaRPr lang="en-US" sz="1100" dirty="0"/>
          </a:p>
        </p:txBody>
      </p:sp>
      <p:sp>
        <p:nvSpPr>
          <p:cNvPr id="106" name="Shape 26"/>
          <p:cNvSpPr/>
          <p:nvPr/>
        </p:nvSpPr>
        <p:spPr>
          <a:xfrm>
            <a:off x="548640" y="3840480"/>
            <a:ext cx="352044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B"/>
            </a:solidFill>
            <a:prstDash val="solid"/>
          </a:ln>
          <a:effectLst>
            <a:outerShdw blurRad="177800" dist="38100" dir="5400000" algn="bl" rotWithShape="0">
              <a:srgbClr val="1E3A5F">
                <a:alpha val="7000"/>
              </a:srgbClr>
            </a:outerShdw>
          </a:effectLst>
        </p:spPr>
      </p:sp>
      <p:sp>
        <p:nvSpPr>
          <p:cNvPr id="107" name="Shape 27"/>
          <p:cNvSpPr/>
          <p:nvPr/>
        </p:nvSpPr>
        <p:spPr>
          <a:xfrm>
            <a:off x="548640" y="3840480"/>
            <a:ext cx="3520440" cy="54864"/>
          </a:xfrm>
          <a:prstGeom prst="rect">
            <a:avLst/>
          </a:prstGeom>
          <a:solidFill>
            <a:srgbClr val="D4A85A"/>
          </a:solidFill>
        </p:spPr>
      </p:sp>
      <p:sp>
        <p:nvSpPr>
          <p:cNvPr id="108" name="Shape 28"/>
          <p:cNvSpPr/>
          <p:nvPr/>
        </p:nvSpPr>
        <p:spPr>
          <a:xfrm>
            <a:off x="777240" y="4069080"/>
            <a:ext cx="502920" cy="502920"/>
          </a:xfrm>
          <a:prstGeom prst="diamond">
            <a:avLst/>
          </a:prstGeom>
          <a:solidFill>
            <a:srgbClr val="D4A85A"/>
          </a:solidFill>
          <a:effectLst>
            <a:outerShdw blurRad="127000" dist="25400" dir="5400000" algn="bl" rotWithShape="0">
              <a:srgbClr val="1E3A5F">
                <a:alpha val="6000"/>
              </a:srgbClr>
            </a:outerShdw>
          </a:effectLst>
        </p:spPr>
      </p:sp>
      <p:sp>
        <p:nvSpPr>
          <p:cNvPr id="109" name="Text 29"/>
          <p:cNvSpPr/>
          <p:nvPr/>
        </p:nvSpPr>
        <p:spPr>
          <a:xfrm>
            <a:off x="777240" y="406908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04</a:t>
            </a:r>
            <a:endParaRPr lang="en-US" sz="1300" dirty="0"/>
          </a:p>
        </p:txBody>
      </p:sp>
      <p:sp>
        <p:nvSpPr>
          <p:cNvPr id="110" name="Text 30"/>
          <p:cNvSpPr/>
          <p:nvPr/>
        </p:nvSpPr>
        <p:spPr>
          <a:xfrm>
            <a:off x="1417320" y="4041648"/>
            <a:ext cx="24231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三端权限隔离</a:t>
            </a:r>
            <a:endParaRPr lang="en-US" sz="1500" dirty="0"/>
          </a:p>
        </p:txBody>
      </p:sp>
      <p:sp>
        <p:nvSpPr>
          <p:cNvPr id="111" name="Shape 31"/>
          <p:cNvSpPr/>
          <p:nvPr/>
        </p:nvSpPr>
        <p:spPr>
          <a:xfrm>
            <a:off x="822960" y="4663440"/>
            <a:ext cx="2971800" cy="18288"/>
          </a:xfrm>
          <a:prstGeom prst="rect">
            <a:avLst/>
          </a:prstGeom>
          <a:solidFill>
            <a:srgbClr val="E8ECF1"/>
          </a:solidFill>
        </p:spPr>
      </p:sp>
      <p:sp>
        <p:nvSpPr>
          <p:cNvPr id="112" name="Text 32"/>
          <p:cNvSpPr/>
          <p:nvPr/>
        </p:nvSpPr>
        <p:spPr>
          <a:xfrm>
            <a:off x="822960" y="4800600"/>
            <a:ext cx="297180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D4A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用户/平台/商家Token分离+前端路由守卫+后端接口三重校验防越权</a:t>
            </a:r>
            <a:endParaRPr lang="en-US" sz="1100" dirty="0"/>
          </a:p>
        </p:txBody>
      </p:sp>
      <p:sp>
        <p:nvSpPr>
          <p:cNvPr id="113" name="Shape 33"/>
          <p:cNvSpPr/>
          <p:nvPr/>
        </p:nvSpPr>
        <p:spPr>
          <a:xfrm>
            <a:off x="4343400" y="3840480"/>
            <a:ext cx="352044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B"/>
            </a:solidFill>
            <a:prstDash val="solid"/>
          </a:ln>
          <a:effectLst>
            <a:outerShdw blurRad="177800" dist="38100" dir="5400000" algn="bl" rotWithShape="0">
              <a:srgbClr val="1E3A5F">
                <a:alpha val="7000"/>
              </a:srgbClr>
            </a:outerShdw>
          </a:effectLst>
        </p:spPr>
      </p:sp>
      <p:sp>
        <p:nvSpPr>
          <p:cNvPr id="114" name="Shape 34"/>
          <p:cNvSpPr/>
          <p:nvPr/>
        </p:nvSpPr>
        <p:spPr>
          <a:xfrm>
            <a:off x="4343400" y="3840480"/>
            <a:ext cx="3520440" cy="54864"/>
          </a:xfrm>
          <a:prstGeom prst="rect">
            <a:avLst/>
          </a:prstGeom>
          <a:solidFill>
            <a:srgbClr val="8B7BBF"/>
          </a:solidFill>
        </p:spPr>
      </p:sp>
      <p:sp>
        <p:nvSpPr>
          <p:cNvPr id="115" name="Shape 35"/>
          <p:cNvSpPr/>
          <p:nvPr/>
        </p:nvSpPr>
        <p:spPr>
          <a:xfrm>
            <a:off x="4572000" y="4069080"/>
            <a:ext cx="502920" cy="502920"/>
          </a:xfrm>
          <a:prstGeom prst="diamond">
            <a:avLst/>
          </a:prstGeom>
          <a:solidFill>
            <a:srgbClr val="8B7BBF"/>
          </a:solidFill>
          <a:effectLst>
            <a:outerShdw blurRad="127000" dist="25400" dir="5400000" algn="bl" rotWithShape="0">
              <a:srgbClr val="1E3A5F">
                <a:alpha val="6000"/>
              </a:srgbClr>
            </a:outerShdw>
          </a:effectLst>
        </p:spPr>
      </p:sp>
      <p:sp>
        <p:nvSpPr>
          <p:cNvPr id="116" name="Text 36"/>
          <p:cNvSpPr/>
          <p:nvPr/>
        </p:nvSpPr>
        <p:spPr>
          <a:xfrm>
            <a:off x="4572000" y="406908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05</a:t>
            </a:r>
            <a:endParaRPr lang="en-US" sz="1300" dirty="0"/>
          </a:p>
        </p:txBody>
      </p:sp>
      <p:sp>
        <p:nvSpPr>
          <p:cNvPr id="117" name="Text 37"/>
          <p:cNvSpPr/>
          <p:nvPr/>
        </p:nvSpPr>
        <p:spPr>
          <a:xfrm>
            <a:off x="5212080" y="4041648"/>
            <a:ext cx="24231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实时客服系统</a:t>
            </a:r>
            <a:endParaRPr lang="en-US" sz="1500" dirty="0"/>
          </a:p>
        </p:txBody>
      </p:sp>
      <p:sp>
        <p:nvSpPr>
          <p:cNvPr id="118" name="Shape 38"/>
          <p:cNvSpPr/>
          <p:nvPr/>
        </p:nvSpPr>
        <p:spPr>
          <a:xfrm>
            <a:off x="4617720" y="4663440"/>
            <a:ext cx="2971800" cy="18288"/>
          </a:xfrm>
          <a:prstGeom prst="rect">
            <a:avLst/>
          </a:prstGeom>
          <a:solidFill>
            <a:srgbClr val="E8ECF1"/>
          </a:solidFill>
        </p:spPr>
      </p:sp>
      <p:sp>
        <p:nvSpPr>
          <p:cNvPr id="119" name="Text 39"/>
          <p:cNvSpPr/>
          <p:nvPr/>
        </p:nvSpPr>
        <p:spPr>
          <a:xfrm>
            <a:off x="4617720" y="4800600"/>
            <a:ext cx="297180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D4A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WebSocket多角色全双工会话+HTTP降级兜底，商品/订单详情一键直达客服</a:t>
            </a:r>
            <a:endParaRPr lang="en-US" sz="1100" dirty="0"/>
          </a:p>
        </p:txBody>
      </p:sp>
      <p:sp>
        <p:nvSpPr>
          <p:cNvPr id="120" name="Shape 40"/>
          <p:cNvSpPr/>
          <p:nvPr/>
        </p:nvSpPr>
        <p:spPr>
          <a:xfrm>
            <a:off x="8138160" y="3840480"/>
            <a:ext cx="352044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EB"/>
            </a:solidFill>
            <a:prstDash val="solid"/>
          </a:ln>
          <a:effectLst>
            <a:outerShdw blurRad="177800" dist="38100" dir="5400000" algn="bl" rotWithShape="0">
              <a:srgbClr val="1E3A5F">
                <a:alpha val="7000"/>
              </a:srgbClr>
            </a:outerShdw>
          </a:effectLst>
        </p:spPr>
      </p:sp>
      <p:sp>
        <p:nvSpPr>
          <p:cNvPr id="121" name="Shape 41"/>
          <p:cNvSpPr/>
          <p:nvPr/>
        </p:nvSpPr>
        <p:spPr>
          <a:xfrm>
            <a:off x="8138160" y="3840480"/>
            <a:ext cx="3520440" cy="54864"/>
          </a:xfrm>
          <a:prstGeom prst="rect">
            <a:avLst/>
          </a:prstGeom>
          <a:solidFill>
            <a:srgbClr val="57A773"/>
          </a:solidFill>
        </p:spPr>
      </p:sp>
      <p:sp>
        <p:nvSpPr>
          <p:cNvPr id="122" name="Shape 42"/>
          <p:cNvSpPr/>
          <p:nvPr/>
        </p:nvSpPr>
        <p:spPr>
          <a:xfrm>
            <a:off x="8366760" y="4069080"/>
            <a:ext cx="502920" cy="502920"/>
          </a:xfrm>
          <a:prstGeom prst="diamond">
            <a:avLst/>
          </a:prstGeom>
          <a:solidFill>
            <a:srgbClr val="57A773"/>
          </a:solidFill>
          <a:effectLst>
            <a:outerShdw blurRad="127000" dist="25400" dir="5400000" algn="bl" rotWithShape="0">
              <a:srgbClr val="1E3A5F">
                <a:alpha val="6000"/>
              </a:srgbClr>
            </a:outerShdw>
          </a:effectLst>
        </p:spPr>
      </p:sp>
      <p:sp>
        <p:nvSpPr>
          <p:cNvPr id="123" name="Text 43"/>
          <p:cNvSpPr/>
          <p:nvPr/>
        </p:nvSpPr>
        <p:spPr>
          <a:xfrm>
            <a:off x="8366760" y="406908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06</a:t>
            </a:r>
            <a:endParaRPr lang="en-US" sz="1300" dirty="0"/>
          </a:p>
        </p:txBody>
      </p:sp>
      <p:sp>
        <p:nvSpPr>
          <p:cNvPr id="124" name="Text 44"/>
          <p:cNvSpPr/>
          <p:nvPr/>
        </p:nvSpPr>
        <p:spPr>
          <a:xfrm>
            <a:off x="9006840" y="4041648"/>
            <a:ext cx="24231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AI安全接入</a:t>
            </a:r>
            <a:endParaRPr lang="en-US" sz="1500" dirty="0"/>
          </a:p>
        </p:txBody>
      </p:sp>
      <p:sp>
        <p:nvSpPr>
          <p:cNvPr id="125" name="Shape 45"/>
          <p:cNvSpPr/>
          <p:nvPr/>
        </p:nvSpPr>
        <p:spPr>
          <a:xfrm>
            <a:off x="8412480" y="4663440"/>
            <a:ext cx="2971800" cy="18288"/>
          </a:xfrm>
          <a:prstGeom prst="rect">
            <a:avLst/>
          </a:prstGeom>
          <a:solidFill>
            <a:srgbClr val="E8ECF1"/>
          </a:solidFill>
        </p:spPr>
      </p:sp>
      <p:sp>
        <p:nvSpPr>
          <p:cNvPr id="126" name="Text 46"/>
          <p:cNvSpPr/>
          <p:nvPr/>
        </p:nvSpPr>
        <p:spPr>
          <a:xfrm>
            <a:off x="8412480" y="4800600"/>
            <a:ext cx="2971800" cy="685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D4A5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qwen-flash统一接入，无Key时自动降级预设回复，AI业务边界清晰可控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8FAFC"/>
            </a:gs>
            <a:gs pos="50000">
              <a:srgbClr val="F1F5FA"/>
            </a:gs>
            <a:gs pos="100000">
              <a:srgbClr val="E6EDF5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5695" y="-1371600"/>
            <a:ext cx="4572000" cy="4572000"/>
          </a:xfrm>
          <a:prstGeom prst="ellipse">
            <a:avLst/>
          </a:prstGeom>
          <a:solidFill>
            <a:srgbClr val="3B82F6">
              <a:alpha val="8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-914400" y="4572000"/>
            <a:ext cx="2743200" cy="2743200"/>
          </a:xfrm>
          <a:prstGeom prst="ellipse">
            <a:avLst/>
          </a:prstGeom>
          <a:solidFill>
            <a:srgbClr val="14B8A6">
              <a:alpha val="10000"/>
            </a:srgbClr>
          </a:solidFill>
        </p:spPr>
      </p:sp>
      <p:sp>
        <p:nvSpPr>
          <p:cNvPr id="4" name="Shape 2"/>
          <p:cNvSpPr/>
          <p:nvPr/>
        </p:nvSpPr>
        <p:spPr>
          <a:xfrm>
            <a:off x="11094415" y="566928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F59E0B">
              <a:alpha val="20000"/>
            </a:srgbClr>
          </a:solidFill>
        </p:spPr>
      </p:sp>
      <p:sp>
        <p:nvSpPr>
          <p:cNvPr id="5" name="Shape 3"/>
          <p:cNvSpPr/>
          <p:nvPr/>
        </p:nvSpPr>
        <p:spPr>
          <a:xfrm>
            <a:off x="365760" y="320040"/>
            <a:ext cx="411480" cy="411480"/>
          </a:xfrm>
          <a:prstGeom prst="roundRect">
            <a:avLst>
              <a:gd name="adj" fmla="val 15556"/>
            </a:avLst>
          </a:prstGeom>
          <a:solidFill>
            <a:srgbClr val="1E40AF"/>
          </a:solidFill>
        </p:spPr>
      </p:sp>
      <p:sp>
        <p:nvSpPr>
          <p:cNvPr id="6" name="Shape 4"/>
          <p:cNvSpPr/>
          <p:nvPr/>
        </p:nvSpPr>
        <p:spPr>
          <a:xfrm>
            <a:off x="548640" y="475488"/>
            <a:ext cx="594360" cy="594360"/>
          </a:xfrm>
          <a:prstGeom prst="roundRect">
            <a:avLst>
              <a:gd name="adj" fmla="val 13846"/>
            </a:avLst>
          </a:prstGeom>
          <a:solidFill>
            <a:srgbClr val="1E40AF"/>
          </a:solidFill>
          <a:effectLst>
            <a:outerShdw blurRad="165100" dist="38100" dir="5400000" algn="ctr" rotWithShape="0">
              <a:srgbClr val="1E293B">
                <a:alpha val="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475488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325880" y="475488"/>
            <a:ext cx="9144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0D948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CHAPTER 05  ·  TECHNICAL ARCHITECTURE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307592" y="768096"/>
            <a:ext cx="1024128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技术架构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548640" y="1783080"/>
            <a:ext cx="777240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254000" dist="38100" dir="5400000" algn="bl" rotWithShape="0">
              <a:srgbClr val="1E40AF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1783080"/>
            <a:ext cx="1371600" cy="777240"/>
          </a:xfrm>
          <a:prstGeom prst="rect">
            <a:avLst/>
          </a:prstGeom>
          <a:solidFill>
            <a:srgbClr val="1E40AF"/>
          </a:solidFill>
        </p:spPr>
      </p:sp>
      <p:sp>
        <p:nvSpPr>
          <p:cNvPr id="12" name="Text 10"/>
          <p:cNvSpPr/>
          <p:nvPr/>
        </p:nvSpPr>
        <p:spPr>
          <a:xfrm>
            <a:off x="548640" y="1828800"/>
            <a:ext cx="1371600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客户端层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2125980"/>
            <a:ext cx="1371600" cy="3886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Client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057400" y="1933956"/>
            <a:ext cx="1953768" cy="475488"/>
          </a:xfrm>
          <a:prstGeom prst="roundRect">
            <a:avLst>
              <a:gd name="adj" fmla="val 11538"/>
            </a:avLst>
          </a:prstGeom>
          <a:solidFill>
            <a:srgbClr val="1E40AF">
              <a:alpha val="12000"/>
            </a:srgbClr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57400" y="1933956"/>
            <a:ext cx="195376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用户端 React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20896" y="1933956"/>
            <a:ext cx="1953768" cy="475488"/>
          </a:xfrm>
          <a:prstGeom prst="roundRect">
            <a:avLst>
              <a:gd name="adj" fmla="val 11538"/>
            </a:avLst>
          </a:prstGeom>
          <a:solidFill>
            <a:srgbClr val="1E40AF">
              <a:alpha val="12000"/>
            </a:srgbClr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20896" y="1933956"/>
            <a:ext cx="195376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平台管理端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84392" y="1933956"/>
            <a:ext cx="1953768" cy="475488"/>
          </a:xfrm>
          <a:prstGeom prst="roundRect">
            <a:avLst>
              <a:gd name="adj" fmla="val 11538"/>
            </a:avLst>
          </a:prstGeom>
          <a:solidFill>
            <a:srgbClr val="1E40AF">
              <a:alpha val="12000"/>
            </a:srgbClr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84392" y="1933956"/>
            <a:ext cx="195376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商家管理端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2743200"/>
            <a:ext cx="777240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254000" dist="38100" dir="5400000" algn="bl" rotWithShape="0">
              <a:srgbClr val="1E40AF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" y="2743200"/>
            <a:ext cx="1371600" cy="777240"/>
          </a:xfrm>
          <a:prstGeom prst="rect">
            <a:avLst/>
          </a:prstGeom>
          <a:solidFill>
            <a:srgbClr val="0D9488"/>
          </a:solidFill>
        </p:spPr>
      </p:sp>
      <p:sp>
        <p:nvSpPr>
          <p:cNvPr id="22" name="Text 20"/>
          <p:cNvSpPr/>
          <p:nvPr/>
        </p:nvSpPr>
        <p:spPr>
          <a:xfrm>
            <a:off x="548640" y="2788920"/>
            <a:ext cx="1371600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网关/接入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" y="3086100"/>
            <a:ext cx="1371600" cy="3886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Gateway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057400" y="2894076"/>
            <a:ext cx="1437894" cy="475488"/>
          </a:xfrm>
          <a:prstGeom prst="roundRect">
            <a:avLst>
              <a:gd name="adj" fmla="val 11538"/>
            </a:avLst>
          </a:prstGeom>
          <a:solidFill>
            <a:srgbClr val="0D9488">
              <a:alpha val="12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057400" y="2894076"/>
            <a:ext cx="1437894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FastAPI REST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05022" y="2894076"/>
            <a:ext cx="1437894" cy="475488"/>
          </a:xfrm>
          <a:prstGeom prst="roundRect">
            <a:avLst>
              <a:gd name="adj" fmla="val 11538"/>
            </a:avLst>
          </a:prstGeom>
          <a:solidFill>
            <a:srgbClr val="0D9488">
              <a:alpha val="12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05022" y="2894076"/>
            <a:ext cx="1437894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WebSocket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152644" y="2894076"/>
            <a:ext cx="1437894" cy="475488"/>
          </a:xfrm>
          <a:prstGeom prst="roundRect">
            <a:avLst>
              <a:gd name="adj" fmla="val 11538"/>
            </a:avLst>
          </a:prstGeom>
          <a:solidFill>
            <a:srgbClr val="0D9488">
              <a:alpha val="12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52644" y="2894076"/>
            <a:ext cx="1437894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JWT 鉴权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700266" y="2894076"/>
            <a:ext cx="1437894" cy="475488"/>
          </a:xfrm>
          <a:prstGeom prst="roundRect">
            <a:avLst>
              <a:gd name="adj" fmla="val 11538"/>
            </a:avLst>
          </a:prstGeom>
          <a:solidFill>
            <a:srgbClr val="0D9488">
              <a:alpha val="12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00266" y="2894076"/>
            <a:ext cx="1437894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限流/日志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48640" y="3703320"/>
            <a:ext cx="777240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254000" dist="38100" dir="5400000" algn="bl" rotWithShape="0">
              <a:srgbClr val="1E40AF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48640" y="3703320"/>
            <a:ext cx="1371600" cy="82296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34" name="Text 32"/>
          <p:cNvSpPr/>
          <p:nvPr/>
        </p:nvSpPr>
        <p:spPr>
          <a:xfrm>
            <a:off x="548640" y="3749040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业务服务层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48640" y="406908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Services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057400" y="3877056"/>
            <a:ext cx="664083" cy="475488"/>
          </a:xfrm>
          <a:prstGeom prst="roundRect">
            <a:avLst>
              <a:gd name="adj" fmla="val 11538"/>
            </a:avLst>
          </a:prstGeom>
          <a:solidFill>
            <a:srgbClr val="F59E0B">
              <a:alpha val="12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057400" y="3877056"/>
            <a:ext cx="664083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认证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831211" y="3877056"/>
            <a:ext cx="664083" cy="475488"/>
          </a:xfrm>
          <a:prstGeom prst="roundRect">
            <a:avLst>
              <a:gd name="adj" fmla="val 11538"/>
            </a:avLst>
          </a:prstGeom>
          <a:solidFill>
            <a:srgbClr val="F59E0B">
              <a:alpha val="12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831211" y="3877056"/>
            <a:ext cx="664083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商品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605022" y="3877056"/>
            <a:ext cx="664083" cy="475488"/>
          </a:xfrm>
          <a:prstGeom prst="roundRect">
            <a:avLst>
              <a:gd name="adj" fmla="val 11538"/>
            </a:avLst>
          </a:prstGeom>
          <a:solidFill>
            <a:srgbClr val="F59E0B">
              <a:alpha val="12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05022" y="3877056"/>
            <a:ext cx="664083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订单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378833" y="3877056"/>
            <a:ext cx="664083" cy="475488"/>
          </a:xfrm>
          <a:prstGeom prst="roundRect">
            <a:avLst>
              <a:gd name="adj" fmla="val 11538"/>
            </a:avLst>
          </a:prstGeom>
          <a:solidFill>
            <a:srgbClr val="F59E0B">
              <a:alpha val="12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378833" y="3877056"/>
            <a:ext cx="664083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支付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152644" y="3877056"/>
            <a:ext cx="664083" cy="475488"/>
          </a:xfrm>
          <a:prstGeom prst="roundRect">
            <a:avLst>
              <a:gd name="adj" fmla="val 11538"/>
            </a:avLst>
          </a:prstGeom>
          <a:solidFill>
            <a:srgbClr val="F59E0B">
              <a:alpha val="12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152644" y="3877056"/>
            <a:ext cx="664083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促销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926455" y="3877056"/>
            <a:ext cx="664083" cy="475488"/>
          </a:xfrm>
          <a:prstGeom prst="roundRect">
            <a:avLst>
              <a:gd name="adj" fmla="val 11538"/>
            </a:avLst>
          </a:prstGeom>
          <a:solidFill>
            <a:srgbClr val="F59E0B">
              <a:alpha val="12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926455" y="3877056"/>
            <a:ext cx="664083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社区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700266" y="3877056"/>
            <a:ext cx="664083" cy="475488"/>
          </a:xfrm>
          <a:prstGeom prst="roundRect">
            <a:avLst>
              <a:gd name="adj" fmla="val 11538"/>
            </a:avLst>
          </a:prstGeom>
          <a:solidFill>
            <a:srgbClr val="F59E0B">
              <a:alpha val="12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700266" y="3877056"/>
            <a:ext cx="664083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客服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7474077" y="3877056"/>
            <a:ext cx="664083" cy="475488"/>
          </a:xfrm>
          <a:prstGeom prst="roundRect">
            <a:avLst>
              <a:gd name="adj" fmla="val 11538"/>
            </a:avLst>
          </a:prstGeom>
          <a:solidFill>
            <a:srgbClr val="F59E0B">
              <a:alpha val="12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474077" y="3877056"/>
            <a:ext cx="664083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AI助手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548640" y="4709160"/>
            <a:ext cx="777240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254000" dist="38100" dir="5400000" algn="bl" rotWithShape="0">
              <a:srgbClr val="1E40AF">
                <a:alpha val="10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548640" y="4709160"/>
            <a:ext cx="1371600" cy="777240"/>
          </a:xfrm>
          <a:prstGeom prst="rect">
            <a:avLst/>
          </a:prstGeom>
          <a:solidFill>
            <a:srgbClr val="E11D48"/>
          </a:solidFill>
        </p:spPr>
      </p:sp>
      <p:sp>
        <p:nvSpPr>
          <p:cNvPr id="54" name="Text 52"/>
          <p:cNvSpPr/>
          <p:nvPr/>
        </p:nvSpPr>
        <p:spPr>
          <a:xfrm>
            <a:off x="548640" y="4754880"/>
            <a:ext cx="1371600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数据/支撑层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548640" y="5052060"/>
            <a:ext cx="1371600" cy="3886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Infra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2057400" y="4860036"/>
            <a:ext cx="1128370" cy="475488"/>
          </a:xfrm>
          <a:prstGeom prst="roundRect">
            <a:avLst>
              <a:gd name="adj" fmla="val 11538"/>
            </a:avLst>
          </a:prstGeom>
          <a:solidFill>
            <a:srgbClr val="E11D48">
              <a:alpha val="12000"/>
            </a:srgbClr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057400" y="4860036"/>
            <a:ext cx="112837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MySQL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3295498" y="4860036"/>
            <a:ext cx="1128370" cy="475488"/>
          </a:xfrm>
          <a:prstGeom prst="roundRect">
            <a:avLst>
              <a:gd name="adj" fmla="val 11538"/>
            </a:avLst>
          </a:prstGeom>
          <a:solidFill>
            <a:srgbClr val="E11D48">
              <a:alpha val="12000"/>
            </a:srgbClr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295498" y="4860036"/>
            <a:ext cx="112837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Redis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4533595" y="4860036"/>
            <a:ext cx="1128370" cy="475488"/>
          </a:xfrm>
          <a:prstGeom prst="roundRect">
            <a:avLst>
              <a:gd name="adj" fmla="val 11538"/>
            </a:avLst>
          </a:prstGeom>
          <a:solidFill>
            <a:srgbClr val="E11D48">
              <a:alpha val="12000"/>
            </a:srgbClr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533595" y="4860036"/>
            <a:ext cx="112837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Celery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5771693" y="4860036"/>
            <a:ext cx="1128370" cy="475488"/>
          </a:xfrm>
          <a:prstGeom prst="roundRect">
            <a:avLst>
              <a:gd name="adj" fmla="val 11538"/>
            </a:avLst>
          </a:prstGeom>
          <a:solidFill>
            <a:srgbClr val="E11D48">
              <a:alpha val="12000"/>
            </a:srgbClr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771693" y="4860036"/>
            <a:ext cx="112837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支付宝沙箱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7009790" y="4860036"/>
            <a:ext cx="1128370" cy="475488"/>
          </a:xfrm>
          <a:prstGeom prst="roundRect">
            <a:avLst>
              <a:gd name="adj" fmla="val 11538"/>
            </a:avLst>
          </a:prstGeom>
          <a:solidFill>
            <a:srgbClr val="E11D48">
              <a:alpha val="12000"/>
            </a:srgbClr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009790" y="4860036"/>
            <a:ext cx="112837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qwen-flash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4434840" y="2560320"/>
            <a:ext cx="0" cy="164592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67" name="Shape 65"/>
          <p:cNvSpPr/>
          <p:nvPr/>
        </p:nvSpPr>
        <p:spPr>
          <a:xfrm>
            <a:off x="4434840" y="3520440"/>
            <a:ext cx="0" cy="164592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68" name="Shape 66"/>
          <p:cNvSpPr/>
          <p:nvPr/>
        </p:nvSpPr>
        <p:spPr>
          <a:xfrm>
            <a:off x="4434840" y="4526280"/>
            <a:ext cx="0" cy="164592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69" name="Shape 67"/>
          <p:cNvSpPr/>
          <p:nvPr/>
        </p:nvSpPr>
        <p:spPr>
          <a:xfrm>
            <a:off x="8595360" y="1783080"/>
            <a:ext cx="3063240" cy="3703320"/>
          </a:xfrm>
          <a:prstGeom prst="rect">
            <a:avLst/>
          </a:prstGeom>
          <a:solidFill>
            <a:srgbClr val="7030A0"/>
          </a:solidFill>
          <a:effectLst>
            <a:outerShdw blurRad="254000" dist="38100" dir="5400000" algn="bl" rotWithShape="0">
              <a:srgbClr val="1E40AF">
                <a:alpha val="10000"/>
              </a:srgbClr>
            </a:outerShdw>
          </a:effectLst>
        </p:spPr>
      </p:sp>
      <p:sp>
        <p:nvSpPr>
          <p:cNvPr id="70" name="Text 68"/>
          <p:cNvSpPr/>
          <p:nvPr/>
        </p:nvSpPr>
        <p:spPr>
          <a:xfrm>
            <a:off x="8869680" y="2011680"/>
            <a:ext cx="2514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架构特性</a:t>
            </a:r>
            <a:endParaRPr lang="en-US" sz="1500" dirty="0"/>
          </a:p>
        </p:txBody>
      </p:sp>
      <p:sp>
        <p:nvSpPr>
          <p:cNvPr id="71" name="Shape 69"/>
          <p:cNvSpPr/>
          <p:nvPr/>
        </p:nvSpPr>
        <p:spPr>
          <a:xfrm>
            <a:off x="8869680" y="2816352"/>
            <a:ext cx="109728" cy="109728"/>
          </a:xfrm>
          <a:prstGeom prst="ellipse">
            <a:avLst/>
          </a:prstGeom>
          <a:solidFill>
            <a:srgbClr val="F59E0B"/>
          </a:solidFill>
        </p:spPr>
      </p:sp>
      <p:sp>
        <p:nvSpPr>
          <p:cNvPr id="72" name="Text 70"/>
          <p:cNvSpPr/>
          <p:nvPr/>
        </p:nvSpPr>
        <p:spPr>
          <a:xfrm>
            <a:off x="9098280" y="2743200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前后端分离</a:t>
            </a:r>
            <a:endParaRPr lang="en-US" sz="1200" dirty="0"/>
          </a:p>
        </p:txBody>
      </p:sp>
      <p:sp>
        <p:nvSpPr>
          <p:cNvPr id="73" name="Text 71"/>
          <p:cNvSpPr/>
          <p:nvPr/>
        </p:nvSpPr>
        <p:spPr>
          <a:xfrm>
            <a:off x="9098280" y="2980944"/>
            <a:ext cx="22860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三端独立工程，REST契约驱动前后端协作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8869680" y="3346704"/>
            <a:ext cx="109728" cy="109728"/>
          </a:xfrm>
          <a:prstGeom prst="ellipse">
            <a:avLst/>
          </a:prstGeom>
          <a:solidFill>
            <a:srgbClr val="F59E0B"/>
          </a:solidFill>
        </p:spPr>
      </p:sp>
      <p:sp>
        <p:nvSpPr>
          <p:cNvPr id="75" name="Text 73"/>
          <p:cNvSpPr/>
          <p:nvPr/>
        </p:nvSpPr>
        <p:spPr>
          <a:xfrm>
            <a:off x="9098280" y="3273552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分层解耦</a:t>
            </a:r>
            <a:endParaRPr lang="en-US" sz="1200" dirty="0"/>
          </a:p>
        </p:txBody>
      </p:sp>
      <p:sp>
        <p:nvSpPr>
          <p:cNvPr id="76" name="Text 74"/>
          <p:cNvSpPr/>
          <p:nvPr/>
        </p:nvSpPr>
        <p:spPr>
          <a:xfrm>
            <a:off x="9098280" y="3511296"/>
            <a:ext cx="22860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路由/服务/模型三层架构职责单一清晰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8869680" y="3877056"/>
            <a:ext cx="109728" cy="109728"/>
          </a:xfrm>
          <a:prstGeom prst="ellipse">
            <a:avLst/>
          </a:prstGeom>
          <a:solidFill>
            <a:srgbClr val="F59E0B"/>
          </a:solidFill>
        </p:spPr>
      </p:sp>
      <p:sp>
        <p:nvSpPr>
          <p:cNvPr id="78" name="Text 76"/>
          <p:cNvSpPr/>
          <p:nvPr/>
        </p:nvSpPr>
        <p:spPr>
          <a:xfrm>
            <a:off x="9098280" y="3803904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异步架构</a:t>
            </a:r>
            <a:endParaRPr lang="en-US" sz="1200" dirty="0"/>
          </a:p>
        </p:txBody>
      </p:sp>
      <p:sp>
        <p:nvSpPr>
          <p:cNvPr id="79" name="Text 77"/>
          <p:cNvSpPr/>
          <p:nvPr/>
        </p:nvSpPr>
        <p:spPr>
          <a:xfrm>
            <a:off x="9098280" y="4041648"/>
            <a:ext cx="22860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Celery分布式任务调度 + WebSocket实时推送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8869680" y="4407408"/>
            <a:ext cx="109728" cy="109728"/>
          </a:xfrm>
          <a:prstGeom prst="ellipse">
            <a:avLst/>
          </a:prstGeom>
          <a:solidFill>
            <a:srgbClr val="F59E0B"/>
          </a:solidFill>
        </p:spPr>
      </p:sp>
      <p:sp>
        <p:nvSpPr>
          <p:cNvPr id="81" name="Text 79"/>
          <p:cNvSpPr/>
          <p:nvPr/>
        </p:nvSpPr>
        <p:spPr>
          <a:xfrm>
            <a:off x="9098280" y="4334256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安全边界</a:t>
            </a:r>
            <a:endParaRPr lang="en-US" sz="1200" dirty="0"/>
          </a:p>
        </p:txBody>
      </p:sp>
      <p:sp>
        <p:nvSpPr>
          <p:cNvPr id="82" name="Text 80"/>
          <p:cNvSpPr/>
          <p:nvPr/>
        </p:nvSpPr>
        <p:spPr>
          <a:xfrm>
            <a:off x="9098280" y="4572000"/>
            <a:ext cx="22860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三角色Token后端强制鉴权与越权防护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8869680" y="4937760"/>
            <a:ext cx="109728" cy="109728"/>
          </a:xfrm>
          <a:prstGeom prst="ellipse">
            <a:avLst/>
          </a:prstGeom>
          <a:solidFill>
            <a:srgbClr val="F59E0B"/>
          </a:solidFill>
        </p:spPr>
      </p:sp>
      <p:sp>
        <p:nvSpPr>
          <p:cNvPr id="84" name="Text 82"/>
          <p:cNvSpPr/>
          <p:nvPr/>
        </p:nvSpPr>
        <p:spPr>
          <a:xfrm>
            <a:off x="9098280" y="4864608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可扩展性</a:t>
            </a:r>
            <a:endParaRPr lang="en-US" sz="1200" dirty="0"/>
          </a:p>
        </p:txBody>
      </p:sp>
      <p:sp>
        <p:nvSpPr>
          <p:cNvPr id="85" name="Text 83"/>
          <p:cNvSpPr/>
          <p:nvPr/>
        </p:nvSpPr>
        <p:spPr>
          <a:xfrm>
            <a:off x="9098280" y="5102352"/>
            <a:ext cx="22860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服务层水平扩展与弹性伸缩能力预留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172A">
              <a:alpha val="4000"/>
            </a:srgbClr>
          </a:solidFill>
        </p:spPr>
      </p:sp>
      <p:sp>
        <p:nvSpPr>
          <p:cNvPr id="87" name="Text 85"/>
          <p:cNvSpPr/>
          <p:nvPr/>
        </p:nvSpPr>
        <p:spPr>
          <a:xfrm>
            <a:off x="548640" y="653796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一次买够 · 社交新零售电商平台  It's Mygo</a:t>
            </a:r>
            <a:endParaRPr lang="en-US" sz="900" dirty="0"/>
          </a:p>
        </p:txBody>
      </p:sp>
      <p:sp>
        <p:nvSpPr>
          <p:cNvPr id="88" name="Text 86"/>
          <p:cNvSpPr/>
          <p:nvPr/>
        </p:nvSpPr>
        <p:spPr>
          <a:xfrm>
            <a:off x="10362895" y="6537960"/>
            <a:ext cx="12801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9 / 18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8FAFC"/>
            </a:gs>
            <a:gs pos="50000">
              <a:srgbClr val="F1F5FA"/>
            </a:gs>
            <a:gs pos="100000">
              <a:srgbClr val="E6EDF5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5695" y="-1371600"/>
            <a:ext cx="4572000" cy="4572000"/>
          </a:xfrm>
          <a:prstGeom prst="ellipse">
            <a:avLst/>
          </a:prstGeom>
          <a:solidFill>
            <a:srgbClr val="3B82F6">
              <a:alpha val="8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-914400" y="4572000"/>
            <a:ext cx="2743200" cy="2743200"/>
          </a:xfrm>
          <a:prstGeom prst="ellipse">
            <a:avLst/>
          </a:prstGeom>
          <a:solidFill>
            <a:srgbClr val="14B8A6">
              <a:alpha val="10000"/>
            </a:srgbClr>
          </a:solidFill>
        </p:spPr>
      </p:sp>
      <p:sp>
        <p:nvSpPr>
          <p:cNvPr id="4" name="Shape 2"/>
          <p:cNvSpPr/>
          <p:nvPr/>
        </p:nvSpPr>
        <p:spPr>
          <a:xfrm>
            <a:off x="11094415" y="566928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F59E0B">
              <a:alpha val="20000"/>
            </a:srgbClr>
          </a:solidFill>
        </p:spPr>
      </p:sp>
      <p:sp>
        <p:nvSpPr>
          <p:cNvPr id="5" name="Shape 3"/>
          <p:cNvSpPr/>
          <p:nvPr/>
        </p:nvSpPr>
        <p:spPr>
          <a:xfrm>
            <a:off x="365760" y="320040"/>
            <a:ext cx="411480" cy="411480"/>
          </a:xfrm>
          <a:prstGeom prst="roundRect">
            <a:avLst>
              <a:gd name="adj" fmla="val 15556"/>
            </a:avLst>
          </a:prstGeom>
          <a:solidFill>
            <a:srgbClr val="1E40AF"/>
          </a:solidFill>
        </p:spPr>
      </p:sp>
      <p:sp>
        <p:nvSpPr>
          <p:cNvPr id="6" name="Shape 4"/>
          <p:cNvSpPr/>
          <p:nvPr/>
        </p:nvSpPr>
        <p:spPr>
          <a:xfrm>
            <a:off x="548640" y="475488"/>
            <a:ext cx="594360" cy="594360"/>
          </a:xfrm>
          <a:prstGeom prst="roundRect">
            <a:avLst>
              <a:gd name="adj" fmla="val 13846"/>
            </a:avLst>
          </a:prstGeom>
          <a:solidFill>
            <a:srgbClr val="1E40AF"/>
          </a:solidFill>
          <a:effectLst>
            <a:outerShdw blurRad="165100" dist="38100" dir="5400000" algn="ctr" rotWithShape="0">
              <a:srgbClr val="1E293B">
                <a:alpha val="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475488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325880" y="475488"/>
            <a:ext cx="9144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0D948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CHAPTER 05  ·  TECH STACK &amp; PRICE FLOW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307592" y="768096"/>
            <a:ext cx="1024128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技术栈与价格计算流程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548640" y="1783079"/>
            <a:ext cx="5029200" cy="4348089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254000" dist="38100" dir="5400000" algn="bl" rotWithShape="0">
              <a:srgbClr val="1E40AF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1783080"/>
            <a:ext cx="73152" cy="4348088"/>
          </a:xfrm>
          <a:prstGeom prst="rect">
            <a:avLst/>
          </a:prstGeom>
          <a:solidFill>
            <a:srgbClr val="1E40AF"/>
          </a:solidFill>
        </p:spPr>
      </p:sp>
      <p:sp>
        <p:nvSpPr>
          <p:cNvPr id="12" name="Text 10"/>
          <p:cNvSpPr/>
          <p:nvPr/>
        </p:nvSpPr>
        <p:spPr>
          <a:xfrm>
            <a:off x="822960" y="1965960"/>
            <a:ext cx="41148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技术栈总览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822960" y="2670048"/>
            <a:ext cx="731520" cy="274320"/>
          </a:xfrm>
          <a:prstGeom prst="roundRect">
            <a:avLst>
              <a:gd name="adj" fmla="val 13333"/>
            </a:avLst>
          </a:prstGeom>
          <a:solidFill>
            <a:srgbClr val="1E40AF"/>
          </a:solidFill>
        </p:spPr>
      </p:sp>
      <p:sp>
        <p:nvSpPr>
          <p:cNvPr id="14" name="Text 12"/>
          <p:cNvSpPr/>
          <p:nvPr/>
        </p:nvSpPr>
        <p:spPr>
          <a:xfrm>
            <a:off x="822960" y="2670048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后端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691640" y="2651760"/>
            <a:ext cx="3657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FastAPI · SQLAlchemy(async) · Pydantic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22960" y="3072384"/>
            <a:ext cx="731520" cy="274320"/>
          </a:xfrm>
          <a:prstGeom prst="roundRect">
            <a:avLst>
              <a:gd name="adj" fmla="val 13333"/>
            </a:avLst>
          </a:prstGeom>
          <a:solidFill>
            <a:srgbClr val="0D9488"/>
          </a:solidFill>
        </p:spPr>
      </p:sp>
      <p:sp>
        <p:nvSpPr>
          <p:cNvPr id="17" name="Text 15"/>
          <p:cNvSpPr/>
          <p:nvPr/>
        </p:nvSpPr>
        <p:spPr>
          <a:xfrm>
            <a:off x="822960" y="3072384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691640" y="3054096"/>
            <a:ext cx="3657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MySQL 8.0 · Redis · 连接池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22960" y="3474720"/>
            <a:ext cx="731520" cy="274320"/>
          </a:xfrm>
          <a:prstGeom prst="roundRect">
            <a:avLst>
              <a:gd name="adj" fmla="val 13333"/>
            </a:avLst>
          </a:prstGeom>
          <a:solidFill>
            <a:srgbClr val="F59E0B"/>
          </a:solidFill>
        </p:spPr>
      </p:sp>
      <p:sp>
        <p:nvSpPr>
          <p:cNvPr id="20" name="Text 18"/>
          <p:cNvSpPr/>
          <p:nvPr/>
        </p:nvSpPr>
        <p:spPr>
          <a:xfrm>
            <a:off x="822960" y="347472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异步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691640" y="3456432"/>
            <a:ext cx="3657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Celery 定时任务 · WebSocket 实时推送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22960" y="3877056"/>
            <a:ext cx="731520" cy="274320"/>
          </a:xfrm>
          <a:prstGeom prst="roundRect">
            <a:avLst>
              <a:gd name="adj" fmla="val 13333"/>
            </a:avLst>
          </a:prstGeom>
          <a:solidFill>
            <a:srgbClr val="E11D48"/>
          </a:solidFill>
        </p:spPr>
      </p:sp>
      <p:sp>
        <p:nvSpPr>
          <p:cNvPr id="23" name="Text 21"/>
          <p:cNvSpPr/>
          <p:nvPr/>
        </p:nvSpPr>
        <p:spPr>
          <a:xfrm>
            <a:off x="822960" y="3877056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前端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691640" y="3858768"/>
            <a:ext cx="3657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React 18 · Vite · TypeScript · Ant Design 5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22960" y="4279392"/>
            <a:ext cx="731520" cy="274320"/>
          </a:xfrm>
          <a:prstGeom prst="roundRect">
            <a:avLst>
              <a:gd name="adj" fmla="val 13333"/>
            </a:avLst>
          </a:prstGeom>
          <a:solidFill>
            <a:srgbClr val="1E40AF"/>
          </a:solidFill>
        </p:spPr>
      </p:sp>
      <p:sp>
        <p:nvSpPr>
          <p:cNvPr id="26" name="Text 24"/>
          <p:cNvSpPr/>
          <p:nvPr/>
        </p:nvSpPr>
        <p:spPr>
          <a:xfrm>
            <a:off x="822960" y="4279392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可视化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691640" y="4261104"/>
            <a:ext cx="3657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ECharts 报表 · 响应式布局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22960" y="4681728"/>
            <a:ext cx="731520" cy="274320"/>
          </a:xfrm>
          <a:prstGeom prst="roundRect">
            <a:avLst>
              <a:gd name="adj" fmla="val 13333"/>
            </a:avLst>
          </a:prstGeom>
          <a:solidFill>
            <a:srgbClr val="0D9488"/>
          </a:solidFill>
        </p:spPr>
      </p:sp>
      <p:sp>
        <p:nvSpPr>
          <p:cNvPr id="29" name="Text 27"/>
          <p:cNvSpPr/>
          <p:nvPr/>
        </p:nvSpPr>
        <p:spPr>
          <a:xfrm>
            <a:off x="822960" y="4681728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三方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691640" y="4663440"/>
            <a:ext cx="3657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支付宝沙箱 · qwen-flash(OpenAI兼容)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22960" y="5084064"/>
            <a:ext cx="731520" cy="274320"/>
          </a:xfrm>
          <a:prstGeom prst="roundRect">
            <a:avLst>
              <a:gd name="adj" fmla="val 13333"/>
            </a:avLst>
          </a:prstGeom>
          <a:solidFill>
            <a:srgbClr val="F59E0B"/>
          </a:solidFill>
        </p:spPr>
      </p:sp>
      <p:sp>
        <p:nvSpPr>
          <p:cNvPr id="32" name="Text 30"/>
          <p:cNvSpPr/>
          <p:nvPr/>
        </p:nvSpPr>
        <p:spPr>
          <a:xfrm>
            <a:off x="822960" y="5084064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工程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691640" y="5065776"/>
            <a:ext cx="3657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Git · pytest · tsc · 文档驱动协作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22960" y="5486400"/>
            <a:ext cx="731520" cy="274320"/>
          </a:xfrm>
          <a:prstGeom prst="roundRect">
            <a:avLst>
              <a:gd name="adj" fmla="val 13333"/>
            </a:avLst>
          </a:prstGeom>
          <a:solidFill>
            <a:srgbClr val="E11D48"/>
          </a:solidFill>
        </p:spPr>
      </p:sp>
      <p:sp>
        <p:nvSpPr>
          <p:cNvPr id="35" name="Text 33"/>
          <p:cNvSpPr/>
          <p:nvPr/>
        </p:nvSpPr>
        <p:spPr>
          <a:xfrm>
            <a:off x="822960" y="548640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Python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691640" y="5468112"/>
            <a:ext cx="3657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3.12 · async/await 异步编程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852160" y="1783080"/>
            <a:ext cx="5806440" cy="434808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254000" dist="38100" dir="5400000" algn="bl" rotWithShape="0">
              <a:srgbClr val="1E40AF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5852160" y="1783080"/>
            <a:ext cx="73143" cy="4348088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39" name="Text 37"/>
          <p:cNvSpPr/>
          <p:nvPr/>
        </p:nvSpPr>
        <p:spPr>
          <a:xfrm>
            <a:off x="6126480" y="1965960"/>
            <a:ext cx="50292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结算价格计算流程</a:t>
            </a:r>
            <a:endParaRPr lang="en-US" sz="1700" dirty="0"/>
          </a:p>
        </p:txBody>
      </p:sp>
      <p:sp>
        <p:nvSpPr>
          <p:cNvPr id="41" name="Shape 39"/>
          <p:cNvSpPr/>
          <p:nvPr/>
        </p:nvSpPr>
        <p:spPr>
          <a:xfrm>
            <a:off x="6217920" y="2743200"/>
            <a:ext cx="475488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5875">
            <a:solidFill>
              <a:srgbClr val="1E40AF"/>
            </a:solidFill>
            <a:prstDash val="solid"/>
          </a:ln>
          <a:effectLst>
            <a:outerShdw blurRad="165100" dist="38100" dir="5400000" algn="ctr" rotWithShape="0">
              <a:srgbClr val="1E293B">
                <a:alpha val="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382512" y="2862072"/>
            <a:ext cx="265176" cy="265176"/>
          </a:xfrm>
          <a:prstGeom prst="ellipse">
            <a:avLst/>
          </a:prstGeom>
          <a:solidFill>
            <a:srgbClr val="1E40AF"/>
          </a:solidFill>
        </p:spPr>
      </p:sp>
      <p:sp>
        <p:nvSpPr>
          <p:cNvPr id="43" name="Text 41"/>
          <p:cNvSpPr/>
          <p:nvPr/>
        </p:nvSpPr>
        <p:spPr>
          <a:xfrm>
            <a:off x="6382512" y="2862072"/>
            <a:ext cx="265176" cy="2651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812280" y="2743200"/>
            <a:ext cx="40233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商品原价 / 活动价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8595360" y="3246120"/>
            <a:ext cx="0" cy="18288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6217920" y="3429000"/>
            <a:ext cx="475488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5875">
            <a:solidFill>
              <a:srgbClr val="0D9488"/>
            </a:solidFill>
            <a:prstDash val="solid"/>
          </a:ln>
          <a:effectLst>
            <a:outerShdw blurRad="165100" dist="38100" dir="5400000" algn="ctr" rotWithShape="0">
              <a:srgbClr val="1E293B">
                <a:alpha val="5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382512" y="3547872"/>
            <a:ext cx="265176" cy="265176"/>
          </a:xfrm>
          <a:prstGeom prst="ellipse">
            <a:avLst/>
          </a:prstGeom>
          <a:solidFill>
            <a:srgbClr val="0D9488"/>
          </a:solidFill>
        </p:spPr>
      </p:sp>
      <p:sp>
        <p:nvSpPr>
          <p:cNvPr id="48" name="Text 46"/>
          <p:cNvSpPr/>
          <p:nvPr/>
        </p:nvSpPr>
        <p:spPr>
          <a:xfrm>
            <a:off x="6382512" y="3547872"/>
            <a:ext cx="265176" cy="2651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6812280" y="3429000"/>
            <a:ext cx="40233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满减优惠（阶梯满减规则）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8595360" y="3931920"/>
            <a:ext cx="0" cy="18288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51" name="Shape 49"/>
          <p:cNvSpPr/>
          <p:nvPr/>
        </p:nvSpPr>
        <p:spPr>
          <a:xfrm>
            <a:off x="6217920" y="4114800"/>
            <a:ext cx="475488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5875">
            <a:solidFill>
              <a:srgbClr val="F59E0B"/>
            </a:solidFill>
            <a:prstDash val="solid"/>
          </a:ln>
          <a:effectLst>
            <a:outerShdw blurRad="165100" dist="38100" dir="5400000" algn="ctr" rotWithShape="0">
              <a:srgbClr val="1E293B">
                <a:alpha val="5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6382512" y="4233672"/>
            <a:ext cx="265176" cy="265176"/>
          </a:xfrm>
          <a:prstGeom prst="ellipse">
            <a:avLst/>
          </a:prstGeom>
          <a:solidFill>
            <a:srgbClr val="F59E0B"/>
          </a:solidFill>
        </p:spPr>
      </p:sp>
      <p:sp>
        <p:nvSpPr>
          <p:cNvPr id="53" name="Text 51"/>
          <p:cNvSpPr/>
          <p:nvPr/>
        </p:nvSpPr>
        <p:spPr>
          <a:xfrm>
            <a:off x="6382512" y="4233672"/>
            <a:ext cx="265176" cy="2651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6812280" y="4114800"/>
            <a:ext cx="40233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优惠券抵扣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8595360" y="4617720"/>
            <a:ext cx="0" cy="18288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56" name="Shape 54"/>
          <p:cNvSpPr/>
          <p:nvPr/>
        </p:nvSpPr>
        <p:spPr>
          <a:xfrm>
            <a:off x="6217920" y="4800600"/>
            <a:ext cx="475488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5875">
            <a:solidFill>
              <a:srgbClr val="E11D48"/>
            </a:solidFill>
            <a:prstDash val="solid"/>
          </a:ln>
          <a:effectLst>
            <a:outerShdw blurRad="165100" dist="38100" dir="5400000" algn="ctr" rotWithShape="0">
              <a:srgbClr val="1E293B">
                <a:alpha val="5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6382512" y="4919472"/>
            <a:ext cx="265176" cy="265176"/>
          </a:xfrm>
          <a:prstGeom prst="ellipse">
            <a:avLst/>
          </a:prstGeom>
          <a:solidFill>
            <a:srgbClr val="E11D48"/>
          </a:solidFill>
        </p:spPr>
      </p:sp>
      <p:sp>
        <p:nvSpPr>
          <p:cNvPr id="58" name="Text 56"/>
          <p:cNvSpPr/>
          <p:nvPr/>
        </p:nvSpPr>
        <p:spPr>
          <a:xfrm>
            <a:off x="6382512" y="4919472"/>
            <a:ext cx="265176" cy="2651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6812280" y="4800600"/>
            <a:ext cx="40233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积分抵扣（会员等级动态加权）</a:t>
            </a:r>
            <a:endParaRPr lang="en-US" sz="1300" dirty="0"/>
          </a:p>
        </p:txBody>
      </p:sp>
      <p:sp>
        <p:nvSpPr>
          <p:cNvPr id="60" name="Shape 58"/>
          <p:cNvSpPr/>
          <p:nvPr/>
        </p:nvSpPr>
        <p:spPr>
          <a:xfrm>
            <a:off x="8595360" y="5303520"/>
            <a:ext cx="0" cy="18288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61" name="Shape 59"/>
          <p:cNvSpPr/>
          <p:nvPr/>
        </p:nvSpPr>
        <p:spPr>
          <a:xfrm>
            <a:off x="6217920" y="5486400"/>
            <a:ext cx="475488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5875">
            <a:solidFill>
              <a:srgbClr val="0F172A"/>
            </a:solidFill>
            <a:prstDash val="solid"/>
          </a:ln>
          <a:effectLst>
            <a:outerShdw blurRad="165100" dist="38100" dir="5400000" algn="ctr" rotWithShape="0">
              <a:srgbClr val="1E293B">
                <a:alpha val="5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6382512" y="5605272"/>
            <a:ext cx="265176" cy="265176"/>
          </a:xfrm>
          <a:prstGeom prst="ellipse">
            <a:avLst/>
          </a:prstGeom>
          <a:solidFill>
            <a:srgbClr val="0F172A"/>
          </a:solidFill>
        </p:spPr>
      </p:sp>
      <p:sp>
        <p:nvSpPr>
          <p:cNvPr id="63" name="Text 61"/>
          <p:cNvSpPr/>
          <p:nvPr/>
        </p:nvSpPr>
        <p:spPr>
          <a:xfrm>
            <a:off x="6382512" y="5605272"/>
            <a:ext cx="265176" cy="2651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6812280" y="5486400"/>
            <a:ext cx="40233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支付宝沙箱扫码支付网关</a:t>
            </a:r>
            <a:endParaRPr lang="en-US" sz="1300" dirty="0"/>
          </a:p>
        </p:txBody>
      </p:sp>
      <p:sp>
        <p:nvSpPr>
          <p:cNvPr id="65" name="Shape 6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172A">
              <a:alpha val="4000"/>
            </a:srgbClr>
          </a:solidFill>
        </p:spPr>
      </p:sp>
      <p:sp>
        <p:nvSpPr>
          <p:cNvPr id="66" name="Text 64"/>
          <p:cNvSpPr/>
          <p:nvPr/>
        </p:nvSpPr>
        <p:spPr>
          <a:xfrm>
            <a:off x="548640" y="653796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一次买够 · 社交新零售电商平台  It's Mygo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10362895" y="6537960"/>
            <a:ext cx="12801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10 / 18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8FAFC"/>
            </a:gs>
            <a:gs pos="50000">
              <a:srgbClr val="F1F5FA"/>
            </a:gs>
            <a:gs pos="100000">
              <a:srgbClr val="E6EDF5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5695" y="-1371600"/>
            <a:ext cx="4572000" cy="4572000"/>
          </a:xfrm>
          <a:prstGeom prst="ellipse">
            <a:avLst/>
          </a:prstGeom>
          <a:solidFill>
            <a:srgbClr val="3B82F6">
              <a:alpha val="8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-914400" y="4572000"/>
            <a:ext cx="2743200" cy="2743200"/>
          </a:xfrm>
          <a:prstGeom prst="ellipse">
            <a:avLst/>
          </a:prstGeom>
          <a:solidFill>
            <a:srgbClr val="14B8A6">
              <a:alpha val="10000"/>
            </a:srgbClr>
          </a:solidFill>
        </p:spPr>
      </p:sp>
      <p:sp>
        <p:nvSpPr>
          <p:cNvPr id="4" name="Shape 2"/>
          <p:cNvSpPr/>
          <p:nvPr/>
        </p:nvSpPr>
        <p:spPr>
          <a:xfrm>
            <a:off x="11094415" y="566928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F59E0B">
              <a:alpha val="20000"/>
            </a:srgbClr>
          </a:solidFill>
        </p:spPr>
      </p:sp>
      <p:sp>
        <p:nvSpPr>
          <p:cNvPr id="5" name="Shape 3"/>
          <p:cNvSpPr/>
          <p:nvPr/>
        </p:nvSpPr>
        <p:spPr>
          <a:xfrm>
            <a:off x="365760" y="320040"/>
            <a:ext cx="411480" cy="411480"/>
          </a:xfrm>
          <a:prstGeom prst="roundRect">
            <a:avLst>
              <a:gd name="adj" fmla="val 15556"/>
            </a:avLst>
          </a:prstGeom>
          <a:solidFill>
            <a:srgbClr val="1E40AF"/>
          </a:solidFill>
        </p:spPr>
      </p:sp>
      <p:sp>
        <p:nvSpPr>
          <p:cNvPr id="6" name="Shape 4"/>
          <p:cNvSpPr/>
          <p:nvPr/>
        </p:nvSpPr>
        <p:spPr>
          <a:xfrm>
            <a:off x="548640" y="475488"/>
            <a:ext cx="594360" cy="594360"/>
          </a:xfrm>
          <a:prstGeom prst="roundRect">
            <a:avLst>
              <a:gd name="adj" fmla="val 13846"/>
            </a:avLst>
          </a:prstGeom>
          <a:solidFill>
            <a:srgbClr val="1E40AF"/>
          </a:solidFill>
          <a:effectLst>
            <a:outerShdw blurRad="165100" dist="38100" dir="5400000" algn="ctr" rotWithShape="0">
              <a:srgbClr val="1E293B">
                <a:alpha val="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475488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325880" y="475488"/>
            <a:ext cx="9144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0D948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CHAPTER 05  ·  BACKEND LAYERS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307592" y="768096"/>
            <a:ext cx="1024128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后端分层架构与代码结构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548640" y="1783080"/>
            <a:ext cx="6936545" cy="4206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254000" dist="38100" dir="5400000" algn="bl" rotWithShape="0">
              <a:srgbClr val="1E40AF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1783080"/>
            <a:ext cx="73152" cy="4206240"/>
          </a:xfrm>
          <a:prstGeom prst="rect">
            <a:avLst/>
          </a:prstGeom>
          <a:solidFill>
            <a:srgbClr val="1E40AF"/>
          </a:solidFill>
        </p:spPr>
      </p:sp>
      <p:sp>
        <p:nvSpPr>
          <p:cNvPr id="12" name="Text 10"/>
          <p:cNvSpPr/>
          <p:nvPr/>
        </p:nvSpPr>
        <p:spPr>
          <a:xfrm>
            <a:off x="822960" y="1965960"/>
            <a:ext cx="45720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后端分层目录结构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22960" y="2578608"/>
            <a:ext cx="1828800" cy="329184"/>
          </a:xfrm>
          <a:prstGeom prst="roundRect">
            <a:avLst>
              <a:gd name="adj" fmla="val 11111"/>
            </a:avLst>
          </a:prstGeom>
          <a:solidFill>
            <a:srgbClr val="1E40AF"/>
          </a:solidFill>
        </p:spPr>
      </p:sp>
      <p:sp>
        <p:nvSpPr>
          <p:cNvPr id="15" name="Text 13"/>
          <p:cNvSpPr/>
          <p:nvPr/>
        </p:nvSpPr>
        <p:spPr>
          <a:xfrm>
            <a:off x="822960" y="2578608"/>
            <a:ext cx="18288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app/api/v1/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880360" y="2560320"/>
            <a:ext cx="84124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HTTP路由 · 参数接收 · JWT鉴权 · 调度Service层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22960" y="2999232"/>
            <a:ext cx="10515600" cy="0"/>
          </a:xfrm>
          <a:prstGeom prst="line">
            <a:avLst/>
          </a:prstGeom>
          <a:noFill/>
          <a:ln w="6350">
            <a:solidFill>
              <a:srgbClr val="F1F5F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960" y="3017520"/>
            <a:ext cx="1828800" cy="329184"/>
          </a:xfrm>
          <a:prstGeom prst="roundRect">
            <a:avLst>
              <a:gd name="adj" fmla="val 11111"/>
            </a:avLst>
          </a:prstGeom>
          <a:solidFill>
            <a:srgbClr val="0D9488"/>
          </a:solidFill>
        </p:spPr>
      </p:sp>
      <p:sp>
        <p:nvSpPr>
          <p:cNvPr id="19" name="Text 17"/>
          <p:cNvSpPr/>
          <p:nvPr/>
        </p:nvSpPr>
        <p:spPr>
          <a:xfrm>
            <a:off x="822960" y="3017520"/>
            <a:ext cx="18288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app/services/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880360" y="2999232"/>
            <a:ext cx="84124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业务逻辑 · 事务边界 · 状态机驱动 · 跨模块协同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22960" y="3438144"/>
            <a:ext cx="10515600" cy="0"/>
          </a:xfrm>
          <a:prstGeom prst="line">
            <a:avLst/>
          </a:prstGeom>
          <a:noFill/>
          <a:ln w="6350">
            <a:solidFill>
              <a:srgbClr val="F1F5F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2960" y="3456432"/>
            <a:ext cx="1828800" cy="329184"/>
          </a:xfrm>
          <a:prstGeom prst="roundRect">
            <a:avLst>
              <a:gd name="adj" fmla="val 11111"/>
            </a:avLst>
          </a:prstGeom>
          <a:solidFill>
            <a:srgbClr val="F59E0B"/>
          </a:solidFill>
        </p:spPr>
      </p:sp>
      <p:sp>
        <p:nvSpPr>
          <p:cNvPr id="23" name="Text 21"/>
          <p:cNvSpPr/>
          <p:nvPr/>
        </p:nvSpPr>
        <p:spPr>
          <a:xfrm>
            <a:off x="822960" y="3456432"/>
            <a:ext cx="18288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app/models/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880360" y="3438144"/>
            <a:ext cx="84124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SQLAlchemy ORM模型 · 表结构定义与外键约束关联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22960" y="3877056"/>
            <a:ext cx="10515600" cy="0"/>
          </a:xfrm>
          <a:prstGeom prst="line">
            <a:avLst/>
          </a:prstGeom>
          <a:noFill/>
          <a:ln w="6350">
            <a:solidFill>
              <a:srgbClr val="F1F5F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2960" y="3895344"/>
            <a:ext cx="1828800" cy="329184"/>
          </a:xfrm>
          <a:prstGeom prst="roundRect">
            <a:avLst>
              <a:gd name="adj" fmla="val 11111"/>
            </a:avLst>
          </a:prstGeom>
          <a:solidFill>
            <a:srgbClr val="E11D48"/>
          </a:solidFill>
        </p:spPr>
      </p:sp>
      <p:sp>
        <p:nvSpPr>
          <p:cNvPr id="27" name="Text 25"/>
          <p:cNvSpPr/>
          <p:nvPr/>
        </p:nvSpPr>
        <p:spPr>
          <a:xfrm>
            <a:off x="822960" y="3895344"/>
            <a:ext cx="18288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app/schemas/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880360" y="3877056"/>
            <a:ext cx="84124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Pydantic请求/响应模型 · 自动数据校验与JSON序列化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22960" y="4315968"/>
            <a:ext cx="10515600" cy="0"/>
          </a:xfrm>
          <a:prstGeom prst="line">
            <a:avLst/>
          </a:prstGeom>
          <a:noFill/>
          <a:ln w="6350">
            <a:solidFill>
              <a:srgbClr val="F1F5F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2960" y="4334256"/>
            <a:ext cx="1828800" cy="329184"/>
          </a:xfrm>
          <a:prstGeom prst="roundRect">
            <a:avLst>
              <a:gd name="adj" fmla="val 11111"/>
            </a:avLst>
          </a:prstGeom>
          <a:solidFill>
            <a:srgbClr val="1E40AF"/>
          </a:solidFill>
        </p:spPr>
      </p:sp>
      <p:sp>
        <p:nvSpPr>
          <p:cNvPr id="31" name="Text 29"/>
          <p:cNvSpPr/>
          <p:nvPr/>
        </p:nvSpPr>
        <p:spPr>
          <a:xfrm>
            <a:off x="822960" y="4334256"/>
            <a:ext cx="18288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app/core/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880360" y="4315968"/>
            <a:ext cx="84124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配置管理 · 安全(JWT) · 统一响应格式 · 全局日志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822960" y="4754880"/>
            <a:ext cx="10515600" cy="0"/>
          </a:xfrm>
          <a:prstGeom prst="line">
            <a:avLst/>
          </a:prstGeom>
          <a:noFill/>
          <a:ln w="6350">
            <a:solidFill>
              <a:srgbClr val="F1F5F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22960" y="4773168"/>
            <a:ext cx="1828800" cy="329184"/>
          </a:xfrm>
          <a:prstGeom prst="roundRect">
            <a:avLst>
              <a:gd name="adj" fmla="val 11111"/>
            </a:avLst>
          </a:prstGeom>
          <a:solidFill>
            <a:srgbClr val="0D9488"/>
          </a:solidFill>
        </p:spPr>
      </p:sp>
      <p:sp>
        <p:nvSpPr>
          <p:cNvPr id="35" name="Text 33"/>
          <p:cNvSpPr/>
          <p:nvPr/>
        </p:nvSpPr>
        <p:spPr>
          <a:xfrm>
            <a:off x="822960" y="4773168"/>
            <a:ext cx="18288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app/tasks/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2880360" y="4754880"/>
            <a:ext cx="84124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Celery异步任务 · 订单超时/优惠券过期/自动确认收货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822960" y="5193792"/>
            <a:ext cx="10515600" cy="0"/>
          </a:xfrm>
          <a:prstGeom prst="line">
            <a:avLst/>
          </a:prstGeom>
          <a:noFill/>
          <a:ln w="6350">
            <a:solidFill>
              <a:srgbClr val="F1F5F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22960" y="5212080"/>
            <a:ext cx="1828800" cy="329184"/>
          </a:xfrm>
          <a:prstGeom prst="roundRect">
            <a:avLst>
              <a:gd name="adj" fmla="val 11111"/>
            </a:avLst>
          </a:prstGeom>
          <a:solidFill>
            <a:srgbClr val="F59E0B"/>
          </a:solidFill>
        </p:spPr>
      </p:sp>
      <p:sp>
        <p:nvSpPr>
          <p:cNvPr id="39" name="Text 37"/>
          <p:cNvSpPr/>
          <p:nvPr/>
        </p:nvSpPr>
        <p:spPr>
          <a:xfrm>
            <a:off x="822960" y="5212080"/>
            <a:ext cx="18288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app/websocket/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2880360" y="5193792"/>
            <a:ext cx="84124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WebSocket连接管理 · 客服消息实时推送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172A">
              <a:alpha val="4000"/>
            </a:srgbClr>
          </a:solidFill>
        </p:spPr>
      </p:sp>
      <p:sp>
        <p:nvSpPr>
          <p:cNvPr id="42" name="Text 40"/>
          <p:cNvSpPr/>
          <p:nvPr/>
        </p:nvSpPr>
        <p:spPr>
          <a:xfrm>
            <a:off x="548640" y="653796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一次买够 · 社交新零售电商平台  It's Mygo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0362895" y="6537960"/>
            <a:ext cx="12801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11 / 18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5695" y="-1371600"/>
            <a:ext cx="4572000" cy="4572000"/>
          </a:xfrm>
          <a:prstGeom prst="ellipse">
            <a:avLst/>
          </a:prstGeom>
          <a:solidFill>
            <a:srgbClr val="3B82F6">
              <a:alpha val="8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-914400" y="4572000"/>
            <a:ext cx="2743200" cy="2743200"/>
          </a:xfrm>
          <a:prstGeom prst="ellipse">
            <a:avLst/>
          </a:prstGeom>
          <a:solidFill>
            <a:srgbClr val="14B8A6">
              <a:alpha val="10000"/>
            </a:srgbClr>
          </a:solidFill>
        </p:spPr>
      </p:sp>
      <p:sp>
        <p:nvSpPr>
          <p:cNvPr id="4" name="Shape 2"/>
          <p:cNvSpPr/>
          <p:nvPr/>
        </p:nvSpPr>
        <p:spPr>
          <a:xfrm>
            <a:off x="11094415" y="566928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F59E0B">
              <a:alpha val="20000"/>
            </a:srgbClr>
          </a:solidFill>
        </p:spPr>
      </p:sp>
      <p:sp>
        <p:nvSpPr>
          <p:cNvPr id="5" name="Shape 3"/>
          <p:cNvSpPr/>
          <p:nvPr/>
        </p:nvSpPr>
        <p:spPr>
          <a:xfrm>
            <a:off x="365760" y="320040"/>
            <a:ext cx="411480" cy="411480"/>
          </a:xfrm>
          <a:prstGeom prst="roundRect">
            <a:avLst>
              <a:gd name="adj" fmla="val 15556"/>
            </a:avLst>
          </a:prstGeom>
          <a:solidFill>
            <a:srgbClr val="1E40AF"/>
          </a:solidFill>
        </p:spPr>
      </p:sp>
      <p:sp>
        <p:nvSpPr>
          <p:cNvPr id="6" name="Shape 4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7" name="Shape 5"/>
          <p:cNvSpPr/>
          <p:nvPr/>
        </p:nvSpPr>
        <p:spPr>
          <a:xfrm>
            <a:off x="-914400" y="-457200"/>
            <a:ext cx="2743200" cy="2743200"/>
          </a:xfrm>
          <a:prstGeom prst="ellipse">
            <a:avLst/>
          </a:prstGeom>
          <a:solidFill>
            <a:srgbClr val="1E40AF">
              <a:alpha val="25000"/>
            </a:srgbClr>
          </a:solidFill>
        </p:spPr>
      </p:sp>
      <p:sp>
        <p:nvSpPr>
          <p:cNvPr id="8" name="Shape 6"/>
          <p:cNvSpPr/>
          <p:nvPr/>
        </p:nvSpPr>
        <p:spPr>
          <a:xfrm>
            <a:off x="548640" y="32004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F59E0B"/>
          </a:solidFill>
        </p:spPr>
      </p:sp>
      <p:sp>
        <p:nvSpPr>
          <p:cNvPr id="9" name="Text 7"/>
          <p:cNvSpPr/>
          <p:nvPr/>
        </p:nvSpPr>
        <p:spPr>
          <a:xfrm>
            <a:off x="548640" y="32004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DEMO 01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34440" y="292608"/>
            <a:ext cx="82296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用户端商城首页与商品详情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252728" y="713232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首页轮播、分类筛选、商品卡片瀑布流；商品详情、SKU动态选择、图文富文本展示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880360" y="3246120"/>
            <a:ext cx="731520" cy="731520"/>
          </a:xfrm>
          <a:prstGeom prst="ellipse">
            <a:avLst/>
          </a:prstGeom>
          <a:solidFill>
            <a:srgbClr val="F1F5F9"/>
          </a:solidFill>
        </p:spPr>
      </p:sp>
      <p:sp>
        <p:nvSpPr>
          <p:cNvPr id="14" name="Text 12"/>
          <p:cNvSpPr/>
          <p:nvPr/>
        </p:nvSpPr>
        <p:spPr>
          <a:xfrm>
            <a:off x="2880360" y="3227832"/>
            <a:ext cx="7315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image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4114800"/>
            <a:ext cx="5394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商城首页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4434840"/>
            <a:ext cx="53949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替换此区域为项目截图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549640" y="3246120"/>
            <a:ext cx="731520" cy="731520"/>
          </a:xfrm>
          <a:prstGeom prst="ellipse">
            <a:avLst/>
          </a:prstGeom>
          <a:solidFill>
            <a:srgbClr val="F1F5F9"/>
          </a:solidFill>
        </p:spPr>
      </p:sp>
      <p:sp>
        <p:nvSpPr>
          <p:cNvPr id="19" name="Text 17"/>
          <p:cNvSpPr/>
          <p:nvPr/>
        </p:nvSpPr>
        <p:spPr>
          <a:xfrm>
            <a:off x="8549640" y="3227832"/>
            <a:ext cx="7315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image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217920" y="4114800"/>
            <a:ext cx="5394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商品详情页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217920" y="4434840"/>
            <a:ext cx="53949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替换此区域为项目截图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172A">
              <a:alpha val="4000"/>
            </a:srgbClr>
          </a:solidFill>
        </p:spPr>
      </p:sp>
      <p:sp>
        <p:nvSpPr>
          <p:cNvPr id="23" name="Text 21"/>
          <p:cNvSpPr/>
          <p:nvPr/>
        </p:nvSpPr>
        <p:spPr>
          <a:xfrm>
            <a:off x="548640" y="653796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一次买够 · 社交新零售电商平台  It's Mygo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362895" y="6537960"/>
            <a:ext cx="12801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12 / 18</a:t>
            </a:r>
            <a:endParaRPr lang="en-US" sz="900" dirty="0"/>
          </a:p>
        </p:txBody>
      </p:sp>
      <p:pic>
        <p:nvPicPr>
          <p:cNvPr id="26" name="图片 25" descr="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4150" y="1924685"/>
            <a:ext cx="6123305" cy="3171190"/>
          </a:xfrm>
          <a:prstGeom prst="rect">
            <a:avLst/>
          </a:prstGeom>
        </p:spPr>
      </p:pic>
      <p:pic>
        <p:nvPicPr>
          <p:cNvPr id="27" name="图片 26" descr="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9705" y="1843405"/>
            <a:ext cx="4770755" cy="364363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8FAFC"/>
            </a:gs>
            <a:gs pos="50000">
              <a:srgbClr val="F1F5FA"/>
            </a:gs>
            <a:gs pos="100000">
              <a:srgbClr val="E6EDF5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5695" y="-1371600"/>
            <a:ext cx="4572000" cy="4572000"/>
          </a:xfrm>
          <a:prstGeom prst="ellipse">
            <a:avLst/>
          </a:prstGeom>
          <a:solidFill>
            <a:srgbClr val="3B82F6">
              <a:alpha val="8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-914400" y="4572000"/>
            <a:ext cx="2743200" cy="2743200"/>
          </a:xfrm>
          <a:prstGeom prst="ellipse">
            <a:avLst/>
          </a:prstGeom>
          <a:solidFill>
            <a:srgbClr val="14B8A6">
              <a:alpha val="10000"/>
            </a:srgbClr>
          </a:solidFill>
        </p:spPr>
      </p:sp>
      <p:sp>
        <p:nvSpPr>
          <p:cNvPr id="4" name="Shape 2"/>
          <p:cNvSpPr/>
          <p:nvPr/>
        </p:nvSpPr>
        <p:spPr>
          <a:xfrm>
            <a:off x="11094415" y="566928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F59E0B">
              <a:alpha val="20000"/>
            </a:srgbClr>
          </a:solidFill>
        </p:spPr>
      </p:sp>
      <p:sp>
        <p:nvSpPr>
          <p:cNvPr id="5" name="Shape 3"/>
          <p:cNvSpPr/>
          <p:nvPr/>
        </p:nvSpPr>
        <p:spPr>
          <a:xfrm>
            <a:off x="365760" y="320040"/>
            <a:ext cx="411480" cy="411480"/>
          </a:xfrm>
          <a:prstGeom prst="roundRect">
            <a:avLst>
              <a:gd name="adj" fmla="val 15556"/>
            </a:avLst>
          </a:prstGeom>
          <a:solidFill>
            <a:srgbClr val="1E40AF"/>
          </a:solidFill>
        </p:spPr>
      </p:sp>
      <p:sp>
        <p:nvSpPr>
          <p:cNvPr id="6" name="Shape 4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7" name="Shape 5"/>
          <p:cNvSpPr/>
          <p:nvPr/>
        </p:nvSpPr>
        <p:spPr>
          <a:xfrm>
            <a:off x="-914400" y="-457200"/>
            <a:ext cx="2743200" cy="2743200"/>
          </a:xfrm>
          <a:prstGeom prst="ellipse">
            <a:avLst/>
          </a:prstGeom>
          <a:solidFill>
            <a:srgbClr val="1E40AF">
              <a:alpha val="25000"/>
            </a:srgbClr>
          </a:solidFill>
        </p:spPr>
      </p:sp>
      <p:sp>
        <p:nvSpPr>
          <p:cNvPr id="8" name="Shape 6"/>
          <p:cNvSpPr/>
          <p:nvPr/>
        </p:nvSpPr>
        <p:spPr>
          <a:xfrm>
            <a:off x="548640" y="32004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F59E0B"/>
          </a:solidFill>
        </p:spPr>
      </p:sp>
      <p:sp>
        <p:nvSpPr>
          <p:cNvPr id="9" name="Text 7"/>
          <p:cNvSpPr/>
          <p:nvPr/>
        </p:nvSpPr>
        <p:spPr>
          <a:xfrm>
            <a:off x="548640" y="32004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DEMO 02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34440" y="292608"/>
            <a:ext cx="82296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购物车与支付流程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252728" y="713232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按店铺分组的购物车、跨店聚合结算、支付宝沙箱扫码支付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715000" y="3246120"/>
            <a:ext cx="731520" cy="731520"/>
          </a:xfrm>
          <a:prstGeom prst="ellipse">
            <a:avLst/>
          </a:prstGeom>
          <a:solidFill>
            <a:srgbClr val="F1F5F9"/>
          </a:solidFill>
        </p:spPr>
      </p:sp>
      <p:sp>
        <p:nvSpPr>
          <p:cNvPr id="14" name="Text 12"/>
          <p:cNvSpPr/>
          <p:nvPr/>
        </p:nvSpPr>
        <p:spPr>
          <a:xfrm>
            <a:off x="5715000" y="3227832"/>
            <a:ext cx="7315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image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4114800"/>
            <a:ext cx="110642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购物车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4434840"/>
            <a:ext cx="110642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替换此区域为项目截图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172A">
              <a:alpha val="4000"/>
            </a:srgbClr>
          </a:solidFill>
        </p:spPr>
      </p:sp>
      <p:sp>
        <p:nvSpPr>
          <p:cNvPr id="18" name="Text 16"/>
          <p:cNvSpPr/>
          <p:nvPr/>
        </p:nvSpPr>
        <p:spPr>
          <a:xfrm>
            <a:off x="548640" y="653796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一次买够 · 社交新零售电商平台  It's Mygo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362895" y="6537960"/>
            <a:ext cx="12801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13 / 18</a:t>
            </a:r>
            <a:endParaRPr lang="en-US" sz="900" dirty="0"/>
          </a:p>
        </p:txBody>
      </p:sp>
      <p:pic>
        <p:nvPicPr>
          <p:cNvPr id="21" name="图片 20" descr="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16810" y="1387475"/>
            <a:ext cx="7358380" cy="501269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8FAFC"/>
            </a:gs>
            <a:gs pos="50000">
              <a:srgbClr val="F1F5FA"/>
            </a:gs>
            <a:gs pos="100000">
              <a:srgbClr val="E6EDF5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5695" y="-1364615"/>
            <a:ext cx="4572000" cy="4572000"/>
          </a:xfrm>
          <a:prstGeom prst="ellipse">
            <a:avLst/>
          </a:prstGeom>
          <a:solidFill>
            <a:srgbClr val="3B82F6">
              <a:alpha val="8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-914400" y="4572000"/>
            <a:ext cx="2743200" cy="2743200"/>
          </a:xfrm>
          <a:prstGeom prst="ellipse">
            <a:avLst/>
          </a:prstGeom>
          <a:solidFill>
            <a:srgbClr val="14B8A6">
              <a:alpha val="10000"/>
            </a:srgbClr>
          </a:solidFill>
        </p:spPr>
      </p:sp>
      <p:sp>
        <p:nvSpPr>
          <p:cNvPr id="4" name="Shape 2"/>
          <p:cNvSpPr/>
          <p:nvPr/>
        </p:nvSpPr>
        <p:spPr>
          <a:xfrm>
            <a:off x="11094415" y="566928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F59E0B">
              <a:alpha val="20000"/>
            </a:srgbClr>
          </a:solidFill>
        </p:spPr>
      </p:sp>
      <p:sp>
        <p:nvSpPr>
          <p:cNvPr id="5" name="Shape 3"/>
          <p:cNvSpPr/>
          <p:nvPr/>
        </p:nvSpPr>
        <p:spPr>
          <a:xfrm>
            <a:off x="365760" y="320040"/>
            <a:ext cx="411480" cy="411480"/>
          </a:xfrm>
          <a:prstGeom prst="roundRect">
            <a:avLst>
              <a:gd name="adj" fmla="val 15556"/>
            </a:avLst>
          </a:prstGeom>
          <a:solidFill>
            <a:srgbClr val="1E40AF"/>
          </a:solidFill>
        </p:spPr>
      </p:sp>
      <p:sp>
        <p:nvSpPr>
          <p:cNvPr id="6" name="Shape 4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7" name="Shape 5"/>
          <p:cNvSpPr/>
          <p:nvPr/>
        </p:nvSpPr>
        <p:spPr>
          <a:xfrm>
            <a:off x="-914400" y="-457200"/>
            <a:ext cx="2743200" cy="2743200"/>
          </a:xfrm>
          <a:prstGeom prst="ellipse">
            <a:avLst/>
          </a:prstGeom>
          <a:solidFill>
            <a:srgbClr val="1E40AF">
              <a:alpha val="25000"/>
            </a:srgbClr>
          </a:solidFill>
        </p:spPr>
      </p:sp>
      <p:sp>
        <p:nvSpPr>
          <p:cNvPr id="8" name="Shape 6"/>
          <p:cNvSpPr/>
          <p:nvPr/>
        </p:nvSpPr>
        <p:spPr>
          <a:xfrm>
            <a:off x="548640" y="32004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F59E0B"/>
          </a:solidFill>
        </p:spPr>
      </p:sp>
      <p:sp>
        <p:nvSpPr>
          <p:cNvPr id="9" name="Text 7"/>
          <p:cNvSpPr/>
          <p:nvPr/>
        </p:nvSpPr>
        <p:spPr>
          <a:xfrm>
            <a:off x="548640" y="32004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DEMO 03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34440" y="292608"/>
            <a:ext cx="82296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社区种草与拼团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252728" y="713232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种草帖关联商品、来源加购积分激励；商家配置拼团规则、用户开团参团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880360" y="3246120"/>
            <a:ext cx="731520" cy="731520"/>
          </a:xfrm>
          <a:prstGeom prst="ellipse">
            <a:avLst/>
          </a:prstGeom>
          <a:solidFill>
            <a:srgbClr val="F1F5F9"/>
          </a:solidFill>
        </p:spPr>
      </p:sp>
      <p:sp>
        <p:nvSpPr>
          <p:cNvPr id="14" name="Text 12"/>
          <p:cNvSpPr/>
          <p:nvPr/>
        </p:nvSpPr>
        <p:spPr>
          <a:xfrm>
            <a:off x="2880360" y="3227832"/>
            <a:ext cx="7315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image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4114800"/>
            <a:ext cx="5394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社区种草帖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4434840"/>
            <a:ext cx="53949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替换此区域为项目截图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549640" y="3246120"/>
            <a:ext cx="731520" cy="731520"/>
          </a:xfrm>
          <a:prstGeom prst="ellipse">
            <a:avLst/>
          </a:prstGeom>
          <a:solidFill>
            <a:srgbClr val="F1F5F9"/>
          </a:solidFill>
        </p:spPr>
      </p:sp>
      <p:sp>
        <p:nvSpPr>
          <p:cNvPr id="19" name="Text 17"/>
          <p:cNvSpPr/>
          <p:nvPr/>
        </p:nvSpPr>
        <p:spPr>
          <a:xfrm>
            <a:off x="8549640" y="3227832"/>
            <a:ext cx="7315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image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217920" y="4114800"/>
            <a:ext cx="5394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拼团活动页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217920" y="4434840"/>
            <a:ext cx="53949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替换此区域为项目截图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172A">
              <a:alpha val="4000"/>
            </a:srgbClr>
          </a:solidFill>
        </p:spPr>
      </p:sp>
      <p:sp>
        <p:nvSpPr>
          <p:cNvPr id="23" name="Text 21"/>
          <p:cNvSpPr/>
          <p:nvPr/>
        </p:nvSpPr>
        <p:spPr>
          <a:xfrm>
            <a:off x="548640" y="653796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一次买够 · 社交新零售电商平台  It's Mygo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362895" y="6537960"/>
            <a:ext cx="12801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14 / 18</a:t>
            </a:r>
            <a:endParaRPr lang="en-US" sz="900" dirty="0"/>
          </a:p>
        </p:txBody>
      </p:sp>
      <p:pic>
        <p:nvPicPr>
          <p:cNvPr id="26" name="图片 25" descr="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6935" y="1590675"/>
            <a:ext cx="4830445" cy="4591050"/>
          </a:xfrm>
          <a:prstGeom prst="rect">
            <a:avLst/>
          </a:prstGeom>
        </p:spPr>
      </p:pic>
      <p:pic>
        <p:nvPicPr>
          <p:cNvPr id="27" name="图片 26" descr="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742440"/>
            <a:ext cx="5760720" cy="440626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8FAFC"/>
            </a:gs>
            <a:gs pos="50000">
              <a:srgbClr val="F1F5FA"/>
            </a:gs>
            <a:gs pos="100000">
              <a:srgbClr val="E6EDF5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5695" y="-1371600"/>
            <a:ext cx="4572000" cy="4572000"/>
          </a:xfrm>
          <a:prstGeom prst="ellipse">
            <a:avLst/>
          </a:prstGeom>
          <a:solidFill>
            <a:srgbClr val="3B82F6">
              <a:alpha val="8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-914400" y="4572000"/>
            <a:ext cx="2743200" cy="2743200"/>
          </a:xfrm>
          <a:prstGeom prst="ellipse">
            <a:avLst/>
          </a:prstGeom>
          <a:solidFill>
            <a:srgbClr val="14B8A6">
              <a:alpha val="10000"/>
            </a:srgbClr>
          </a:solidFill>
        </p:spPr>
      </p:sp>
      <p:sp>
        <p:nvSpPr>
          <p:cNvPr id="4" name="Shape 2"/>
          <p:cNvSpPr/>
          <p:nvPr/>
        </p:nvSpPr>
        <p:spPr>
          <a:xfrm>
            <a:off x="11094415" y="566928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F59E0B">
              <a:alpha val="20000"/>
            </a:srgbClr>
          </a:solidFill>
        </p:spPr>
      </p:sp>
      <p:sp>
        <p:nvSpPr>
          <p:cNvPr id="5" name="Shape 3"/>
          <p:cNvSpPr/>
          <p:nvPr/>
        </p:nvSpPr>
        <p:spPr>
          <a:xfrm>
            <a:off x="365760" y="320040"/>
            <a:ext cx="411480" cy="411480"/>
          </a:xfrm>
          <a:prstGeom prst="roundRect">
            <a:avLst>
              <a:gd name="adj" fmla="val 15556"/>
            </a:avLst>
          </a:prstGeom>
          <a:solidFill>
            <a:srgbClr val="1E40AF"/>
          </a:solidFill>
        </p:spPr>
      </p:sp>
      <p:sp>
        <p:nvSpPr>
          <p:cNvPr id="6" name="Shape 4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7" name="Shape 5"/>
          <p:cNvSpPr/>
          <p:nvPr/>
        </p:nvSpPr>
        <p:spPr>
          <a:xfrm>
            <a:off x="-914400" y="-457200"/>
            <a:ext cx="2743200" cy="2743200"/>
          </a:xfrm>
          <a:prstGeom prst="ellipse">
            <a:avLst/>
          </a:prstGeom>
          <a:solidFill>
            <a:srgbClr val="1E40AF">
              <a:alpha val="25000"/>
            </a:srgbClr>
          </a:solidFill>
        </p:spPr>
      </p:sp>
      <p:sp>
        <p:nvSpPr>
          <p:cNvPr id="8" name="Shape 6"/>
          <p:cNvSpPr/>
          <p:nvPr/>
        </p:nvSpPr>
        <p:spPr>
          <a:xfrm>
            <a:off x="548640" y="32004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F59E0B"/>
          </a:solidFill>
        </p:spPr>
      </p:sp>
      <p:sp>
        <p:nvSpPr>
          <p:cNvPr id="9" name="Text 7"/>
          <p:cNvSpPr/>
          <p:nvPr/>
        </p:nvSpPr>
        <p:spPr>
          <a:xfrm>
            <a:off x="548640" y="32004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DEMO 04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34440" y="292608"/>
            <a:ext cx="82296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AI购物助手与实时客服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252728" y="713232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 err="1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悬浮式AI助手、购物流程智能咨询；WebSocket双栏客服工作台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880360" y="3246120"/>
            <a:ext cx="731520" cy="731520"/>
          </a:xfrm>
          <a:prstGeom prst="ellipse">
            <a:avLst/>
          </a:prstGeom>
          <a:solidFill>
            <a:srgbClr val="F1F5F9"/>
          </a:solidFill>
        </p:spPr>
      </p:sp>
      <p:sp>
        <p:nvSpPr>
          <p:cNvPr id="14" name="Text 12"/>
          <p:cNvSpPr/>
          <p:nvPr/>
        </p:nvSpPr>
        <p:spPr>
          <a:xfrm>
            <a:off x="2880360" y="3227832"/>
            <a:ext cx="7315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image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4114800"/>
            <a:ext cx="5394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AI购物助手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4434840"/>
            <a:ext cx="53949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替换此区域为项目截图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549640" y="3246120"/>
            <a:ext cx="731520" cy="731520"/>
          </a:xfrm>
          <a:prstGeom prst="ellipse">
            <a:avLst/>
          </a:prstGeom>
          <a:solidFill>
            <a:srgbClr val="F1F5F9"/>
          </a:solidFill>
        </p:spPr>
      </p:sp>
      <p:sp>
        <p:nvSpPr>
          <p:cNvPr id="19" name="Text 17"/>
          <p:cNvSpPr/>
          <p:nvPr/>
        </p:nvSpPr>
        <p:spPr>
          <a:xfrm>
            <a:off x="8549640" y="3227832"/>
            <a:ext cx="7315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image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217920" y="4114800"/>
            <a:ext cx="5394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客服工作台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217920" y="4434840"/>
            <a:ext cx="53949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替换此区域为项目截图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172A">
              <a:alpha val="4000"/>
            </a:srgbClr>
          </a:solidFill>
        </p:spPr>
      </p:sp>
      <p:sp>
        <p:nvSpPr>
          <p:cNvPr id="23" name="Text 21"/>
          <p:cNvSpPr/>
          <p:nvPr/>
        </p:nvSpPr>
        <p:spPr>
          <a:xfrm>
            <a:off x="548640" y="653796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一次买够 · 社交新零售电商平台  It's Mygo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362895" y="6537960"/>
            <a:ext cx="12801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15 / 18</a:t>
            </a:r>
            <a:endParaRPr lang="en-US" sz="900" dirty="0"/>
          </a:p>
        </p:txBody>
      </p:sp>
      <p:pic>
        <p:nvPicPr>
          <p:cNvPr id="26" name="图片 25" descr="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9850" y="1587500"/>
            <a:ext cx="4065905" cy="4518025"/>
          </a:xfrm>
          <a:prstGeom prst="rect">
            <a:avLst/>
          </a:prstGeom>
        </p:spPr>
      </p:pic>
      <p:pic>
        <p:nvPicPr>
          <p:cNvPr id="27" name="图片 26" descr="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8655" y="1841500"/>
            <a:ext cx="5894705" cy="409003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8FAFC"/>
            </a:gs>
            <a:gs pos="50000">
              <a:srgbClr val="F1F5FA"/>
            </a:gs>
            <a:gs pos="100000">
              <a:srgbClr val="E6EDF5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5695" y="-1371600"/>
            <a:ext cx="4572000" cy="4572000"/>
          </a:xfrm>
          <a:prstGeom prst="ellipse">
            <a:avLst/>
          </a:prstGeom>
          <a:solidFill>
            <a:srgbClr val="3B82F6">
              <a:alpha val="8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-914400" y="4572000"/>
            <a:ext cx="2743200" cy="2743200"/>
          </a:xfrm>
          <a:prstGeom prst="ellipse">
            <a:avLst/>
          </a:prstGeom>
          <a:solidFill>
            <a:srgbClr val="14B8A6">
              <a:alpha val="10000"/>
            </a:srgbClr>
          </a:solidFill>
        </p:spPr>
      </p:sp>
      <p:sp>
        <p:nvSpPr>
          <p:cNvPr id="4" name="Shape 2"/>
          <p:cNvSpPr/>
          <p:nvPr/>
        </p:nvSpPr>
        <p:spPr>
          <a:xfrm>
            <a:off x="11094415" y="566928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F59E0B">
              <a:alpha val="20000"/>
            </a:srgbClr>
          </a:solidFill>
        </p:spPr>
      </p:sp>
      <p:sp>
        <p:nvSpPr>
          <p:cNvPr id="5" name="Shape 3"/>
          <p:cNvSpPr/>
          <p:nvPr/>
        </p:nvSpPr>
        <p:spPr>
          <a:xfrm>
            <a:off x="365760" y="320040"/>
            <a:ext cx="411480" cy="411480"/>
          </a:xfrm>
          <a:prstGeom prst="roundRect">
            <a:avLst>
              <a:gd name="adj" fmla="val 15556"/>
            </a:avLst>
          </a:prstGeom>
          <a:solidFill>
            <a:srgbClr val="1E40AF"/>
          </a:solidFill>
        </p:spPr>
      </p:sp>
      <p:sp>
        <p:nvSpPr>
          <p:cNvPr id="6" name="Shape 4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7" name="Shape 5"/>
          <p:cNvSpPr/>
          <p:nvPr/>
        </p:nvSpPr>
        <p:spPr>
          <a:xfrm>
            <a:off x="-914400" y="-457200"/>
            <a:ext cx="2743200" cy="2743200"/>
          </a:xfrm>
          <a:prstGeom prst="ellipse">
            <a:avLst/>
          </a:prstGeom>
          <a:solidFill>
            <a:srgbClr val="1E40AF">
              <a:alpha val="25000"/>
            </a:srgbClr>
          </a:solidFill>
        </p:spPr>
      </p:sp>
      <p:sp>
        <p:nvSpPr>
          <p:cNvPr id="8" name="Shape 6"/>
          <p:cNvSpPr/>
          <p:nvPr/>
        </p:nvSpPr>
        <p:spPr>
          <a:xfrm>
            <a:off x="548640" y="32004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F59E0B"/>
          </a:solidFill>
        </p:spPr>
      </p:sp>
      <p:sp>
        <p:nvSpPr>
          <p:cNvPr id="9" name="Text 7"/>
          <p:cNvSpPr/>
          <p:nvPr/>
        </p:nvSpPr>
        <p:spPr>
          <a:xfrm>
            <a:off x="548640" y="32004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DEMO 05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34440" y="292608"/>
            <a:ext cx="82296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后台管理与数据报表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252728" y="713232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平台后台审核/商品监管、商家后台订单/促销管理、ECharts数据可视化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880360" y="3246120"/>
            <a:ext cx="731520" cy="731520"/>
          </a:xfrm>
          <a:prstGeom prst="ellipse">
            <a:avLst/>
          </a:prstGeom>
          <a:solidFill>
            <a:srgbClr val="F1F5F9"/>
          </a:solidFill>
        </p:spPr>
      </p:sp>
      <p:sp>
        <p:nvSpPr>
          <p:cNvPr id="14" name="Text 12"/>
          <p:cNvSpPr/>
          <p:nvPr/>
        </p:nvSpPr>
        <p:spPr>
          <a:xfrm>
            <a:off x="2880360" y="3227832"/>
            <a:ext cx="7315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image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4114800"/>
            <a:ext cx="5394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平台/商家后台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4434840"/>
            <a:ext cx="53949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替换此区域为项目截图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549640" y="3246120"/>
            <a:ext cx="731520" cy="731520"/>
          </a:xfrm>
          <a:prstGeom prst="ellipse">
            <a:avLst/>
          </a:prstGeom>
          <a:solidFill>
            <a:srgbClr val="F1F5F9"/>
          </a:solidFill>
        </p:spPr>
      </p:sp>
      <p:sp>
        <p:nvSpPr>
          <p:cNvPr id="19" name="Text 17"/>
          <p:cNvSpPr/>
          <p:nvPr/>
        </p:nvSpPr>
        <p:spPr>
          <a:xfrm>
            <a:off x="8549640" y="3227832"/>
            <a:ext cx="7315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image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217920" y="4114800"/>
            <a:ext cx="5394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数据报表看板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217920" y="4434840"/>
            <a:ext cx="53949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替换此区域为项目截图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172A">
              <a:alpha val="4000"/>
            </a:srgbClr>
          </a:solidFill>
        </p:spPr>
      </p:sp>
      <p:sp>
        <p:nvSpPr>
          <p:cNvPr id="23" name="Text 21"/>
          <p:cNvSpPr/>
          <p:nvPr/>
        </p:nvSpPr>
        <p:spPr>
          <a:xfrm>
            <a:off x="548640" y="653796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一次买够 · 社交新零售电商平台  It's Mygo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362895" y="6537960"/>
            <a:ext cx="12801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16 / 18</a:t>
            </a:r>
            <a:endParaRPr lang="en-US" sz="900" dirty="0"/>
          </a:p>
        </p:txBody>
      </p:sp>
      <p:pic>
        <p:nvPicPr>
          <p:cNvPr id="26" name="图片 25" descr="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7620" y="2359025"/>
            <a:ext cx="5285740" cy="3063875"/>
          </a:xfrm>
          <a:prstGeom prst="rect">
            <a:avLst/>
          </a:prstGeom>
        </p:spPr>
      </p:pic>
      <p:pic>
        <p:nvPicPr>
          <p:cNvPr id="27" name="图片 26" descr="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359025"/>
            <a:ext cx="5596255" cy="28067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8FAFC"/>
            </a:gs>
            <a:gs pos="50000">
              <a:srgbClr val="F1F5FA"/>
            </a:gs>
            <a:gs pos="100000">
              <a:srgbClr val="E6EDF5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5695" y="-1371600"/>
            <a:ext cx="4572000" cy="4572000"/>
          </a:xfrm>
          <a:prstGeom prst="ellipse">
            <a:avLst/>
          </a:prstGeom>
          <a:solidFill>
            <a:srgbClr val="3B82F6">
              <a:alpha val="8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-914400" y="4572000"/>
            <a:ext cx="2743200" cy="2743200"/>
          </a:xfrm>
          <a:prstGeom prst="ellipse">
            <a:avLst/>
          </a:prstGeom>
          <a:solidFill>
            <a:srgbClr val="14B8A6">
              <a:alpha val="10000"/>
            </a:srgbClr>
          </a:solidFill>
        </p:spPr>
      </p:sp>
      <p:sp>
        <p:nvSpPr>
          <p:cNvPr id="4" name="Shape 2"/>
          <p:cNvSpPr/>
          <p:nvPr/>
        </p:nvSpPr>
        <p:spPr>
          <a:xfrm>
            <a:off x="11094415" y="566928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F59E0B">
              <a:alpha val="20000"/>
            </a:srgbClr>
          </a:solidFill>
        </p:spPr>
      </p:sp>
      <p:sp>
        <p:nvSpPr>
          <p:cNvPr id="5" name="Shape 3"/>
          <p:cNvSpPr/>
          <p:nvPr/>
        </p:nvSpPr>
        <p:spPr>
          <a:xfrm>
            <a:off x="365760" y="320040"/>
            <a:ext cx="411480" cy="411480"/>
          </a:xfrm>
          <a:prstGeom prst="roundRect">
            <a:avLst>
              <a:gd name="adj" fmla="val 15556"/>
            </a:avLst>
          </a:prstGeom>
          <a:solidFill>
            <a:srgbClr val="1E40AF"/>
          </a:solidFill>
        </p:spPr>
      </p:sp>
      <p:sp>
        <p:nvSpPr>
          <p:cNvPr id="6" name="Shape 4"/>
          <p:cNvSpPr/>
          <p:nvPr/>
        </p:nvSpPr>
        <p:spPr>
          <a:xfrm>
            <a:off x="548640" y="475488"/>
            <a:ext cx="594360" cy="594360"/>
          </a:xfrm>
          <a:prstGeom prst="roundRect">
            <a:avLst>
              <a:gd name="adj" fmla="val 13846"/>
            </a:avLst>
          </a:prstGeom>
          <a:solidFill>
            <a:srgbClr val="1E40AF"/>
          </a:solidFill>
          <a:effectLst>
            <a:outerShdw blurRad="165100" dist="38100" dir="5400000" algn="ctr" rotWithShape="0">
              <a:srgbClr val="1E293B">
                <a:alpha val="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475488"/>
            <a:ext cx="594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6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325880" y="475488"/>
            <a:ext cx="9144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0D948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CHAPTER 06  ·  FUTURE OUTLOOK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307592" y="768096"/>
            <a:ext cx="1024128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未来展望</a:t>
            </a:r>
            <a:endParaRPr lang="en-US" sz="3000" dirty="0"/>
          </a:p>
        </p:txBody>
      </p:sp>
      <p:sp>
        <p:nvSpPr>
          <p:cNvPr id="22" name="Shape 2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172A">
              <a:alpha val="4000"/>
            </a:srgbClr>
          </a:solidFill>
        </p:spPr>
      </p:sp>
      <p:sp>
        <p:nvSpPr>
          <p:cNvPr id="23" name="Text 21"/>
          <p:cNvSpPr/>
          <p:nvPr/>
        </p:nvSpPr>
        <p:spPr>
          <a:xfrm>
            <a:off x="548640" y="653796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一次买够 · 社交新零售电商平台  It's Mygo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362895" y="6537960"/>
            <a:ext cx="12801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17 / 18</a:t>
            </a:r>
            <a:endParaRPr lang="en-US" sz="900" dirty="0"/>
          </a:p>
        </p:txBody>
      </p:sp>
      <p:sp>
        <p:nvSpPr>
          <p:cNvPr id="25" name="Shape 6"/>
          <p:cNvSpPr/>
          <p:nvPr/>
        </p:nvSpPr>
        <p:spPr>
          <a:xfrm>
            <a:off x="548640" y="1554480"/>
            <a:ext cx="539496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effectLst>
            <a:outerShdw blurRad="152400" dist="50800" dir="5400000" algn="ctr" rotWithShape="0">
              <a:srgbClr val="1E293B">
                <a:alpha val="7000"/>
              </a:srgbClr>
            </a:outerShdw>
          </a:effectLst>
        </p:spPr>
      </p:sp>
      <p:sp>
        <p:nvSpPr>
          <p:cNvPr id="26" name="Shape 7"/>
          <p:cNvSpPr/>
          <p:nvPr/>
        </p:nvSpPr>
        <p:spPr>
          <a:xfrm>
            <a:off x="5029200" y="1783080"/>
            <a:ext cx="685800" cy="320040"/>
          </a:xfrm>
          <a:prstGeom prst="roundRect">
            <a:avLst>
              <a:gd name="adj" fmla="val 22857"/>
            </a:avLst>
          </a:prstGeom>
          <a:solidFill>
            <a:srgbClr val="F96167"/>
          </a:solidFill>
        </p:spPr>
      </p:sp>
      <p:sp>
        <p:nvSpPr>
          <p:cNvPr id="27" name="Text 8"/>
          <p:cNvSpPr/>
          <p:nvPr/>
        </p:nvSpPr>
        <p:spPr>
          <a:xfrm>
            <a:off x="5029200" y="1783080"/>
            <a:ext cx="685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短期</a:t>
            </a:r>
            <a:endParaRPr lang="en-US" sz="1100" dirty="0"/>
          </a:p>
        </p:txBody>
      </p:sp>
      <p:sp>
        <p:nvSpPr>
          <p:cNvPr id="28" name="Text 9"/>
          <p:cNvSpPr/>
          <p:nvPr/>
        </p:nvSpPr>
        <p:spPr>
          <a:xfrm>
            <a:off x="822960" y="1783080"/>
            <a:ext cx="40233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D3748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AI增强</a:t>
            </a:r>
            <a:endParaRPr lang="en-US" sz="1700" dirty="0"/>
          </a:p>
        </p:txBody>
      </p:sp>
      <p:sp>
        <p:nvSpPr>
          <p:cNvPr id="29" name="Text 10"/>
          <p:cNvSpPr/>
          <p:nvPr/>
        </p:nvSpPr>
        <p:spPr>
          <a:xfrm>
            <a:off x="822960" y="2240280"/>
            <a:ext cx="484632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扩展AI助手读取商品、订单、促销数据，实现智能导购与客服回复草稿自动生成能力</a:t>
            </a:r>
            <a:endParaRPr lang="en-US" sz="1200" dirty="0"/>
          </a:p>
        </p:txBody>
      </p:sp>
      <p:sp>
        <p:nvSpPr>
          <p:cNvPr id="30" name="Shape 11"/>
          <p:cNvSpPr/>
          <p:nvPr/>
        </p:nvSpPr>
        <p:spPr>
          <a:xfrm>
            <a:off x="6217920" y="1554480"/>
            <a:ext cx="539496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effectLst>
            <a:outerShdw blurRad="152400" dist="50800" dir="5400000" algn="ctr" rotWithShape="0">
              <a:srgbClr val="1E293B">
                <a:alpha val="7000"/>
              </a:srgbClr>
            </a:outerShdw>
          </a:effectLst>
        </p:spPr>
      </p:sp>
      <p:sp>
        <p:nvSpPr>
          <p:cNvPr id="31" name="Shape 12"/>
          <p:cNvSpPr/>
          <p:nvPr/>
        </p:nvSpPr>
        <p:spPr>
          <a:xfrm>
            <a:off x="10698480" y="1783080"/>
            <a:ext cx="685800" cy="320040"/>
          </a:xfrm>
          <a:prstGeom prst="roundRect">
            <a:avLst>
              <a:gd name="adj" fmla="val 22857"/>
            </a:avLst>
          </a:prstGeom>
          <a:solidFill>
            <a:srgbClr val="F96167"/>
          </a:solidFill>
        </p:spPr>
      </p:sp>
      <p:sp>
        <p:nvSpPr>
          <p:cNvPr id="32" name="Text 13"/>
          <p:cNvSpPr/>
          <p:nvPr/>
        </p:nvSpPr>
        <p:spPr>
          <a:xfrm>
            <a:off x="10698480" y="1783080"/>
            <a:ext cx="685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短期</a:t>
            </a:r>
            <a:endParaRPr lang="en-US" sz="1100" dirty="0"/>
          </a:p>
        </p:txBody>
      </p:sp>
      <p:sp>
        <p:nvSpPr>
          <p:cNvPr id="33" name="Text 14"/>
          <p:cNvSpPr/>
          <p:nvPr/>
        </p:nvSpPr>
        <p:spPr>
          <a:xfrm>
            <a:off x="6492240" y="1783080"/>
            <a:ext cx="40233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D3748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体验优化</a:t>
            </a:r>
            <a:endParaRPr lang="en-US" sz="1700" dirty="0"/>
          </a:p>
        </p:txBody>
      </p:sp>
      <p:sp>
        <p:nvSpPr>
          <p:cNvPr id="34" name="Text 15"/>
          <p:cNvSpPr/>
          <p:nvPr/>
        </p:nvSpPr>
        <p:spPr>
          <a:xfrm>
            <a:off x="6492240" y="2240280"/>
            <a:ext cx="484632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完善用户端空状态、加载态、错误边界提示，优化移动端适配与响应式布局体验</a:t>
            </a:r>
            <a:endParaRPr lang="en-US" sz="1200" dirty="0"/>
          </a:p>
        </p:txBody>
      </p:sp>
      <p:sp>
        <p:nvSpPr>
          <p:cNvPr id="35" name="Shape 16"/>
          <p:cNvSpPr/>
          <p:nvPr/>
        </p:nvSpPr>
        <p:spPr>
          <a:xfrm>
            <a:off x="548640" y="3108960"/>
            <a:ext cx="539496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effectLst>
            <a:outerShdw blurRad="152400" dist="50800" dir="5400000" algn="ctr" rotWithShape="0">
              <a:srgbClr val="1E293B">
                <a:alpha val="7000"/>
              </a:srgbClr>
            </a:outerShdw>
          </a:effectLst>
        </p:spPr>
      </p:sp>
      <p:sp>
        <p:nvSpPr>
          <p:cNvPr id="36" name="Shape 17"/>
          <p:cNvSpPr/>
          <p:nvPr/>
        </p:nvSpPr>
        <p:spPr>
          <a:xfrm>
            <a:off x="5029200" y="3337560"/>
            <a:ext cx="685800" cy="320040"/>
          </a:xfrm>
          <a:prstGeom prst="roundRect">
            <a:avLst>
              <a:gd name="adj" fmla="val 22857"/>
            </a:avLst>
          </a:prstGeom>
          <a:solidFill>
            <a:srgbClr val="F9E795"/>
          </a:solidFill>
        </p:spPr>
      </p:sp>
      <p:sp>
        <p:nvSpPr>
          <p:cNvPr id="37" name="Text 18"/>
          <p:cNvSpPr/>
          <p:nvPr/>
        </p:nvSpPr>
        <p:spPr>
          <a:xfrm>
            <a:off x="5029200" y="3337560"/>
            <a:ext cx="685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中期</a:t>
            </a:r>
            <a:endParaRPr lang="en-US" sz="1100" dirty="0"/>
          </a:p>
        </p:txBody>
      </p:sp>
      <p:sp>
        <p:nvSpPr>
          <p:cNvPr id="38" name="Text 19"/>
          <p:cNvSpPr/>
          <p:nvPr/>
        </p:nvSpPr>
        <p:spPr>
          <a:xfrm>
            <a:off x="822960" y="3337560"/>
            <a:ext cx="40233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D3748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测试补强</a:t>
            </a:r>
            <a:endParaRPr lang="en-US" sz="1700" dirty="0"/>
          </a:p>
        </p:txBody>
      </p:sp>
      <p:sp>
        <p:nvSpPr>
          <p:cNvPr id="39" name="Text 20"/>
          <p:cNvSpPr/>
          <p:nvPr/>
        </p:nvSpPr>
        <p:spPr>
          <a:xfrm>
            <a:off x="822960" y="3794760"/>
            <a:ext cx="484632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补充支付、促销、售后、拼团、客服权限等关键业务链路自动化测试用例覆盖</a:t>
            </a:r>
            <a:endParaRPr lang="en-US" sz="1200" dirty="0"/>
          </a:p>
        </p:txBody>
      </p:sp>
      <p:sp>
        <p:nvSpPr>
          <p:cNvPr id="40" name="Shape 21"/>
          <p:cNvSpPr/>
          <p:nvPr/>
        </p:nvSpPr>
        <p:spPr>
          <a:xfrm>
            <a:off x="6217920" y="3108960"/>
            <a:ext cx="539496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effectLst>
            <a:outerShdw blurRad="152400" dist="50800" dir="5400000" algn="ctr" rotWithShape="0">
              <a:srgbClr val="1E293B">
                <a:alpha val="7000"/>
              </a:srgbClr>
            </a:outerShdw>
          </a:effectLst>
        </p:spPr>
      </p:sp>
      <p:sp>
        <p:nvSpPr>
          <p:cNvPr id="41" name="Shape 22"/>
          <p:cNvSpPr/>
          <p:nvPr/>
        </p:nvSpPr>
        <p:spPr>
          <a:xfrm>
            <a:off x="10698480" y="3337560"/>
            <a:ext cx="685800" cy="320040"/>
          </a:xfrm>
          <a:prstGeom prst="roundRect">
            <a:avLst>
              <a:gd name="adj" fmla="val 22857"/>
            </a:avLst>
          </a:prstGeom>
          <a:solidFill>
            <a:srgbClr val="F9E795"/>
          </a:solidFill>
        </p:spPr>
      </p:sp>
      <p:sp>
        <p:nvSpPr>
          <p:cNvPr id="42" name="Text 23"/>
          <p:cNvSpPr/>
          <p:nvPr/>
        </p:nvSpPr>
        <p:spPr>
          <a:xfrm>
            <a:off x="10698480" y="3337560"/>
            <a:ext cx="685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中期</a:t>
            </a:r>
            <a:endParaRPr lang="en-US" sz="1100" dirty="0"/>
          </a:p>
        </p:txBody>
      </p:sp>
      <p:sp>
        <p:nvSpPr>
          <p:cNvPr id="43" name="Text 24"/>
          <p:cNvSpPr/>
          <p:nvPr/>
        </p:nvSpPr>
        <p:spPr>
          <a:xfrm>
            <a:off x="6492240" y="3337560"/>
            <a:ext cx="40233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D3748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报表深化</a:t>
            </a:r>
            <a:endParaRPr lang="en-US" sz="1700" dirty="0"/>
          </a:p>
        </p:txBody>
      </p:sp>
      <p:sp>
        <p:nvSpPr>
          <p:cNvPr id="44" name="Text 25"/>
          <p:cNvSpPr/>
          <p:nvPr/>
        </p:nvSpPr>
        <p:spPr>
          <a:xfrm>
            <a:off x="6492240" y="3794760"/>
            <a:ext cx="484632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扩展多时间维度、运营指标、数据导出能力，优化数据可视化展示效果</a:t>
            </a:r>
            <a:endParaRPr lang="en-US" sz="1200" dirty="0"/>
          </a:p>
        </p:txBody>
      </p:sp>
      <p:sp>
        <p:nvSpPr>
          <p:cNvPr id="45" name="Shape 26"/>
          <p:cNvSpPr/>
          <p:nvPr/>
        </p:nvSpPr>
        <p:spPr>
          <a:xfrm>
            <a:off x="548640" y="4663440"/>
            <a:ext cx="539496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effectLst>
            <a:outerShdw blurRad="152400" dist="50800" dir="5400000" algn="ctr" rotWithShape="0">
              <a:srgbClr val="1E293B">
                <a:alpha val="7000"/>
              </a:srgbClr>
            </a:outerShdw>
          </a:effectLst>
        </p:spPr>
      </p:sp>
      <p:sp>
        <p:nvSpPr>
          <p:cNvPr id="46" name="Shape 27"/>
          <p:cNvSpPr/>
          <p:nvPr/>
        </p:nvSpPr>
        <p:spPr>
          <a:xfrm>
            <a:off x="5029200" y="4892040"/>
            <a:ext cx="685800" cy="320040"/>
          </a:xfrm>
          <a:prstGeom prst="roundRect">
            <a:avLst>
              <a:gd name="adj" fmla="val 22857"/>
            </a:avLst>
          </a:prstGeom>
          <a:solidFill>
            <a:srgbClr val="028090"/>
          </a:solidFill>
        </p:spPr>
      </p:sp>
      <p:sp>
        <p:nvSpPr>
          <p:cNvPr id="47" name="Text 28"/>
          <p:cNvSpPr/>
          <p:nvPr/>
        </p:nvSpPr>
        <p:spPr>
          <a:xfrm>
            <a:off x="5029200" y="4892040"/>
            <a:ext cx="685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长期</a:t>
            </a:r>
            <a:endParaRPr lang="en-US" sz="1100" dirty="0"/>
          </a:p>
        </p:txBody>
      </p:sp>
      <p:sp>
        <p:nvSpPr>
          <p:cNvPr id="48" name="Text 29"/>
          <p:cNvSpPr/>
          <p:nvPr/>
        </p:nvSpPr>
        <p:spPr>
          <a:xfrm>
            <a:off x="822960" y="4892040"/>
            <a:ext cx="40233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D3748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生产化</a:t>
            </a:r>
            <a:endParaRPr lang="en-US" sz="1700" dirty="0"/>
          </a:p>
        </p:txBody>
      </p:sp>
      <p:sp>
        <p:nvSpPr>
          <p:cNvPr id="49" name="Text 30"/>
          <p:cNvSpPr/>
          <p:nvPr/>
        </p:nvSpPr>
        <p:spPr>
          <a:xfrm>
            <a:off x="822960" y="5349240"/>
            <a:ext cx="484632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引入Alembic数据库版本迁移，完善日志监控、错误追踪、性能调优体系</a:t>
            </a:r>
            <a:endParaRPr lang="en-US" sz="1200" dirty="0"/>
          </a:p>
        </p:txBody>
      </p:sp>
      <p:sp>
        <p:nvSpPr>
          <p:cNvPr id="50" name="Shape 31"/>
          <p:cNvSpPr/>
          <p:nvPr/>
        </p:nvSpPr>
        <p:spPr>
          <a:xfrm>
            <a:off x="6217920" y="4663440"/>
            <a:ext cx="539496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effectLst>
            <a:outerShdw blurRad="152400" dist="50800" dir="5400000" algn="ctr" rotWithShape="0">
              <a:srgbClr val="1E293B">
                <a:alpha val="7000"/>
              </a:srgbClr>
            </a:outerShdw>
          </a:effectLst>
        </p:spPr>
      </p:sp>
      <p:sp>
        <p:nvSpPr>
          <p:cNvPr id="51" name="Shape 32"/>
          <p:cNvSpPr/>
          <p:nvPr/>
        </p:nvSpPr>
        <p:spPr>
          <a:xfrm>
            <a:off x="10698480" y="4892040"/>
            <a:ext cx="685800" cy="320040"/>
          </a:xfrm>
          <a:prstGeom prst="roundRect">
            <a:avLst>
              <a:gd name="adj" fmla="val 22857"/>
            </a:avLst>
          </a:prstGeom>
          <a:solidFill>
            <a:srgbClr val="028090"/>
          </a:solidFill>
        </p:spPr>
      </p:sp>
      <p:sp>
        <p:nvSpPr>
          <p:cNvPr id="52" name="Text 33"/>
          <p:cNvSpPr/>
          <p:nvPr/>
        </p:nvSpPr>
        <p:spPr>
          <a:xfrm>
            <a:off x="10698480" y="4892040"/>
            <a:ext cx="685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长期</a:t>
            </a:r>
            <a:endParaRPr lang="en-US" sz="1100" dirty="0"/>
          </a:p>
        </p:txBody>
      </p:sp>
      <p:sp>
        <p:nvSpPr>
          <p:cNvPr id="53" name="Text 34"/>
          <p:cNvSpPr/>
          <p:nvPr/>
        </p:nvSpPr>
        <p:spPr>
          <a:xfrm>
            <a:off x="6492240" y="4892040"/>
            <a:ext cx="40233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D3748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功能拓展</a:t>
            </a:r>
            <a:endParaRPr lang="en-US" sz="1700" dirty="0"/>
          </a:p>
        </p:txBody>
      </p:sp>
      <p:sp>
        <p:nvSpPr>
          <p:cNvPr id="54" name="Text 35"/>
          <p:cNvSpPr/>
          <p:nvPr/>
        </p:nvSpPr>
        <p:spPr>
          <a:xfrm>
            <a:off x="6492240" y="5349240"/>
            <a:ext cx="484632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WebSocket图片消息、客服已读回执、消息通知中心、物流轨迹查询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34095" y="-2286000"/>
            <a:ext cx="6400800" cy="6400800"/>
          </a:xfrm>
          <a:prstGeom prst="ellipse">
            <a:avLst/>
          </a:prstGeom>
          <a:solidFill>
            <a:srgbClr val="1E40AF">
              <a:alpha val="25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10362895" y="3200400"/>
            <a:ext cx="4572000" cy="4572000"/>
          </a:xfrm>
          <a:prstGeom prst="ellipse">
            <a:avLst/>
          </a:prstGeom>
          <a:solidFill>
            <a:srgbClr val="0D9488">
              <a:alpha val="18000"/>
            </a:srgbClr>
          </a:solidFill>
        </p:spPr>
      </p:sp>
      <p:sp>
        <p:nvSpPr>
          <p:cNvPr id="4" name="Shape 2"/>
          <p:cNvSpPr/>
          <p:nvPr/>
        </p:nvSpPr>
        <p:spPr>
          <a:xfrm>
            <a:off x="-1371600" y="3657600"/>
            <a:ext cx="3657600" cy="3657600"/>
          </a:xfrm>
          <a:prstGeom prst="ellipse">
            <a:avLst/>
          </a:prstGeom>
          <a:solidFill>
            <a:srgbClr val="F59E0B">
              <a:alpha val="12000"/>
            </a:srgbClr>
          </a:solidFill>
        </p:spPr>
      </p:sp>
      <p:sp>
        <p:nvSpPr>
          <p:cNvPr id="5" name="Text 3"/>
          <p:cNvSpPr/>
          <p:nvPr/>
        </p:nvSpPr>
        <p:spPr>
          <a:xfrm>
            <a:off x="548640" y="1828800"/>
            <a:ext cx="109728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0" dirty="0">
                <a:solidFill>
                  <a:srgbClr val="14B8A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THANK  YOU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2377440"/>
            <a:ext cx="1097280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感谢聆听  敬请指正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566928" y="365760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kern="0" spc="800" dirty="0">
                <a:solidFill>
                  <a:srgbClr val="94A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Q &amp; A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594360" y="4434840"/>
            <a:ext cx="109728" cy="109728"/>
          </a:xfrm>
          <a:prstGeom prst="ellipse">
            <a:avLst/>
          </a:prstGeom>
          <a:solidFill>
            <a:srgbClr val="F59E0B"/>
          </a:solidFill>
        </p:spPr>
      </p:sp>
      <p:sp>
        <p:nvSpPr>
          <p:cNvPr id="9" name="Shape 7"/>
          <p:cNvSpPr/>
          <p:nvPr/>
        </p:nvSpPr>
        <p:spPr>
          <a:xfrm>
            <a:off x="841248" y="4434840"/>
            <a:ext cx="109728" cy="109728"/>
          </a:xfrm>
          <a:prstGeom prst="ellipse">
            <a:avLst/>
          </a:prstGeom>
          <a:solidFill>
            <a:srgbClr val="14B8A6"/>
          </a:solidFill>
        </p:spPr>
      </p:sp>
      <p:sp>
        <p:nvSpPr>
          <p:cNvPr id="10" name="Shape 8"/>
          <p:cNvSpPr/>
          <p:nvPr/>
        </p:nvSpPr>
        <p:spPr>
          <a:xfrm>
            <a:off x="1088136" y="4434840"/>
            <a:ext cx="109728" cy="109728"/>
          </a:xfrm>
          <a:prstGeom prst="ellipse">
            <a:avLst/>
          </a:prstGeom>
          <a:solidFill>
            <a:srgbClr val="3B82F6"/>
          </a:solidFill>
        </p:spPr>
      </p:sp>
      <p:sp>
        <p:nvSpPr>
          <p:cNvPr id="11" name="Text 9"/>
          <p:cNvSpPr/>
          <p:nvPr/>
        </p:nvSpPr>
        <p:spPr>
          <a:xfrm>
            <a:off x="548640" y="475488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BD5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一次买够 · 社交新零售电商平台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5852160"/>
            <a:ext cx="54864" cy="548640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13" name="Text 11"/>
          <p:cNvSpPr/>
          <p:nvPr/>
        </p:nvSpPr>
        <p:spPr>
          <a:xfrm>
            <a:off x="777240" y="5806440"/>
            <a:ext cx="91440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It's Mygo Team  ·  2026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项目验收答辩演示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4197</Words>
  <Application>WPS 演示</Application>
  <PresentationFormat>宽屏</PresentationFormat>
  <Paragraphs>650</Paragraphs>
  <Slides>17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37" baseType="lpstr">
      <vt:lpstr>Arial</vt:lpstr>
      <vt:lpstr>宋体</vt:lpstr>
      <vt:lpstr>Wingdings</vt:lpstr>
      <vt:lpstr>Arial</vt:lpstr>
      <vt:lpstr>Arial</vt:lpstr>
      <vt:lpstr>微软雅黑</vt:lpstr>
      <vt:lpstr>微软雅黑</vt:lpstr>
      <vt:lpstr>Arial</vt:lpstr>
      <vt:lpstr>Arial Black</vt:lpstr>
      <vt:lpstr>Arial Black</vt:lpstr>
      <vt:lpstr>Arial Black</vt:lpstr>
      <vt:lpstr>Calibri</vt:lpstr>
      <vt:lpstr>Calibri</vt:lpstr>
      <vt:lpstr>Calibri</vt:lpstr>
      <vt:lpstr>Consolas</vt:lpstr>
      <vt:lpstr>Consolas</vt:lpstr>
      <vt:lpstr>Consolas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一次买够 社交新零售电商平台 验收答辩</dc:title>
  <dc:creator>It's Mygo Team</dc:creator>
  <dc:subject>项目验收答辩演示</dc:subject>
  <cp:lastModifiedBy>风雨无阻</cp:lastModifiedBy>
  <cp:revision>14</cp:revision>
  <dcterms:created xsi:type="dcterms:W3CDTF">2026-07-09T11:23:00Z</dcterms:created>
  <dcterms:modified xsi:type="dcterms:W3CDTF">2026-07-09T18:29:37Z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2EB578DA8BE7463081DD0715F2F27D90_12</vt:lpwstr>
  </property>
  <property fmtid="{D5CDD505-2E9C-101B-9397-08002B2CF9AE}" pid="3" name="KSOProductBuildVer">
    <vt:lpwstr>2052-12.1.0.21915</vt:lpwstr>
  </property>
</Properties>
</file>